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operates in the infrastructure sector.</a:t>
            </a:r>
          </a:p>
          <a:p>
            <a:pPr>
              <a:spcAft>
                <a:spcPts val="1200"/>
              </a:spcAft>
              <a:defRPr sz="1100">
                <a:solidFill>
                  <a:srgbClr val="3C3C3C"/>
                </a:solidFill>
                <a:latin typeface="Arial"/>
              </a:defRPr>
            </a:pPr>
            <a:r>
              <a:t>■ It has a significant manufacturing capacity for construction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Increasing from None in 2014 to a value of 1374.3 by the year 2025.</a:t>
            </a:r>
          </a:p>
          <a:p>
            <a:pPr>
              <a:spcAft>
                <a:spcPts val="1200"/>
              </a:spcAft>
              <a:defRPr sz="1100">
                <a:solidFill>
                  <a:srgbClr val="3C3C3C"/>
                </a:solidFill>
                <a:latin typeface="Arial"/>
              </a:defRPr>
            </a:pPr>
            <a:r>
              <a:t>■ Operating EBITDA: Increasing from None in 2014 to a value of 488.9 by the year 2025.</a:t>
            </a:r>
          </a:p>
          <a:p>
            <a:pPr>
              <a:spcAft>
                <a:spcPts val="1200"/>
              </a:spcAft>
              <a:defRPr sz="1100">
                <a:solidFill>
                  <a:srgbClr val="3C3C3C"/>
                </a:solidFill>
                <a:latin typeface="Arial"/>
              </a:defRPr>
            </a:pPr>
            <a:r>
              <a:t>■ PAT Margin: Increasing from None in 2014 to a value of 24.89 by the year 2025.</a:t>
            </a:r>
          </a:p>
          <a:p>
            <a:pPr>
              <a:spcAft>
                <a:spcPts val="1200"/>
              </a:spcAft>
              <a:defRPr sz="1100">
                <a:solidFill>
                  <a:srgbClr val="3C3C3C"/>
                </a:solidFill>
                <a:latin typeface="Arial"/>
              </a:defRPr>
            </a:pPr>
            <a:r>
              <a:t>■ ROE: Increasing from None in 2014 to a value of 126.11 by the year 2025.</a:t>
            </a:r>
          </a:p>
          <a:p>
            <a:pPr>
              <a:spcAft>
                <a:spcPts val="1200"/>
              </a:spcAft>
              <a:defRPr sz="1100">
                <a:solidFill>
                  <a:srgbClr val="3C3C3C"/>
                </a:solidFill>
                <a:latin typeface="Arial"/>
              </a:defRPr>
            </a:pPr>
            <a:r>
              <a:t>■ Asset Turnover: Increasing from None in 2014 to a value of 2.86 by the year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has received significant orders for infrastructure projects.</a:t>
            </a:r>
          </a:p>
          <a:p>
            <a:pPr>
              <a:spcAft>
                <a:spcPts val="1200"/>
              </a:spcAft>
              <a:defRPr sz="1100">
                <a:solidFill>
                  <a:srgbClr val="3C3C3C"/>
                </a:solidFill>
                <a:latin typeface="Arial"/>
              </a:defRPr>
            </a:pPr>
            <a:r>
              <a:t>■ It maintains a robust manufacturing capacity to meet demand.</a:t>
            </a:r>
          </a:p>
          <a:p>
            <a:pPr>
              <a:spcAft>
                <a:spcPts val="1200"/>
              </a:spcAft>
              <a:defRPr sz="1100">
                <a:solidFill>
                  <a:srgbClr val="3C3C3C"/>
                </a:solidFill>
                <a:latin typeface="Arial"/>
              </a:defRPr>
            </a:pPr>
            <a:r>
              <a:t>■ A substantial order book is in place, with contract durations extending into the future years.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