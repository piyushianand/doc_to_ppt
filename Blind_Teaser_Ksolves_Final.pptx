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E004B"/>
        </a:solidFill>
        <a:effectLst/>
      </p:bgPr>
    </p:bg>
    <p:spTree>
      <p:nvGrpSpPr>
        <p:cNvPr id="1" name=""/>
        <p:cNvGrpSpPr/>
        <p:nvPr/>
      </p:nvGrpSpPr>
      <p:grpSpPr/>
      <p:sp>
        <p:nvSpPr>
          <p:cNvPr id="2" name="Right Triangle 1"/>
          <p:cNvSpPr/>
          <p:nvPr/>
        </p:nvSpPr>
        <p:spPr>
          <a:xfrm>
            <a:off x="5943600" y="0"/>
            <a:ext cx="3200400" cy="6858000"/>
          </a:xfrm>
          <a:prstGeom prst="rtTriangl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0" y="457200"/>
            <a:ext cx="1828800" cy="457200"/>
          </a:xfrm>
          <a:prstGeom prst="rect">
            <a:avLst/>
          </a:prstGeom>
          <a:noFill/>
        </p:spPr>
        <p:txBody>
          <a:bodyPr wrap="none">
            <a:spAutoFit/>
          </a:bodyPr>
          <a:lstStyle/>
          <a:p>
            <a:pPr algn="r">
              <a:defRPr b="1" sz="1800">
                <a:solidFill>
                  <a:srgbClr val="FFFFFF"/>
                </a:solidFill>
                <a:latin typeface="Arial"/>
              </a:defRPr>
            </a:pPr>
            <a:r>
              <a:t>KELP</a:t>
            </a:r>
          </a:p>
        </p:txBody>
      </p:sp>
      <p:sp>
        <p:nvSpPr>
          <p:cNvPr id="4" name="TextBox 3"/>
          <p:cNvSpPr txBox="1"/>
          <p:nvPr/>
        </p:nvSpPr>
        <p:spPr>
          <a:xfrm>
            <a:off x="914400" y="2743200"/>
            <a:ext cx="5486400" cy="1828800"/>
          </a:xfrm>
          <a:prstGeom prst="rect">
            <a:avLst/>
          </a:prstGeom>
          <a:noFill/>
        </p:spPr>
        <p:txBody>
          <a:bodyPr wrap="none">
            <a:spAutoFit/>
          </a:bodyPr>
          <a:lstStyle/>
          <a:p>
            <a:pPr>
              <a:defRPr b="1" sz="4400">
                <a:solidFill>
                  <a:srgbClr val="FFFFFF"/>
                </a:solidFill>
                <a:latin typeface="Arial"/>
              </a:defRPr>
            </a:pPr>
            <a:r>
              <a:t>Project Apex</a:t>
            </a:r>
            <a:br/>
            <a:r>
              <a:t>Investment Opportunity</a:t>
            </a:r>
          </a:p>
        </p:txBody>
      </p:sp>
      <p:sp>
        <p:nvSpPr>
          <p:cNvPr id="5" name="TextBox 4"/>
          <p:cNvSpPr txBox="1"/>
          <p:nvPr/>
        </p:nvSpPr>
        <p:spPr>
          <a:xfrm>
            <a:off x="914400" y="4572000"/>
            <a:ext cx="4572000" cy="914400"/>
          </a:xfrm>
          <a:prstGeom prst="rect">
            <a:avLst/>
          </a:prstGeom>
          <a:noFill/>
        </p:spPr>
        <p:txBody>
          <a:bodyPr wrap="none">
            <a:spAutoFit/>
          </a:bodyPr>
          <a:lstStyle/>
          <a:p>
            <a:pPr>
              <a:defRPr sz="1400">
                <a:solidFill>
                  <a:srgbClr val="FF6450"/>
                </a:solidFill>
                <a:latin typeface="Arial"/>
              </a:defRPr>
            </a:pPr>
            <a:r>
              <a:t>Strictly Private &amp; Confidential – Prepared by Kelp M&amp;A Team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0" y="182880"/>
            <a:ext cx="1371600" cy="457200"/>
          </a:xfrm>
          <a:prstGeom prst="rect">
            <a:avLst/>
          </a:prstGeom>
          <a:noFill/>
        </p:spPr>
        <p:txBody>
          <a:bodyPr wrap="none">
            <a:spAutoFit/>
          </a:bodyPr>
          <a:lstStyle/>
          <a:p>
            <a:pPr algn="r">
              <a:defRPr b="1" sz="1400">
                <a:solidFill>
                  <a:srgbClr val="2E004B"/>
                </a:solidFill>
                <a:latin typeface="Arial"/>
              </a:defRPr>
            </a:pPr>
            <a:r>
              <a:t>KELP</a:t>
            </a:r>
          </a:p>
        </p:txBody>
      </p:sp>
      <p:sp>
        <p:nvSpPr>
          <p:cNvPr id="3" name="TextBox 2"/>
          <p:cNvSpPr txBox="1"/>
          <p:nvPr/>
        </p:nvSpPr>
        <p:spPr>
          <a:xfrm>
            <a:off x="457200" y="365760"/>
            <a:ext cx="6858000" cy="731520"/>
          </a:xfrm>
          <a:prstGeom prst="rect">
            <a:avLst/>
          </a:prstGeom>
          <a:noFill/>
        </p:spPr>
        <p:txBody>
          <a:bodyPr wrap="none">
            <a:spAutoFit/>
          </a:bodyPr>
          <a:lstStyle/>
          <a:p>
            <a:pPr>
              <a:defRPr b="1" sz="2400">
                <a:solidFill>
                  <a:srgbClr val="2E004B"/>
                </a:solidFill>
                <a:latin typeface="Arial"/>
              </a:defRPr>
            </a:pPr>
            <a:r>
              <a:t>BUSINESS PROFILE &amp; INFRASTRUCTURE</a:t>
            </a:r>
          </a:p>
        </p:txBody>
      </p:sp>
      <p:cxnSp>
        <p:nvCxnSpPr>
          <p:cNvPr id="4" name="Connector 3"/>
          <p:cNvCxnSpPr/>
          <p:nvPr/>
        </p:nvCxnSpPr>
        <p:spPr>
          <a:xfrm>
            <a:off x="457200" y="1005840"/>
            <a:ext cx="8229600" cy="0"/>
          </a:xfrm>
          <a:prstGeom prst="line">
            <a:avLst/>
          </a:prstGeom>
          <a:ln w="38100">
            <a:solidFill>
              <a:srgbClr val="FF645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92240"/>
            <a:ext cx="8229600" cy="365760"/>
          </a:xfrm>
          <a:prstGeom prst="rect">
            <a:avLst/>
          </a:prstGeom>
          <a:noFill/>
        </p:spPr>
        <p:txBody>
          <a:bodyPr wrap="none">
            <a:spAutoFit/>
          </a:bodyPr>
          <a:lstStyle/>
          <a:p>
            <a:pPr algn="ctr">
              <a:defRPr sz="900">
                <a:solidFill>
                  <a:srgbClr val="969696"/>
                </a:solidFill>
                <a:latin typeface="Arial"/>
              </a:defRPr>
            </a:pPr>
            <a:r>
              <a:t>Strictly Private &amp; Confidential – Prepared by Kelp M&amp;A Team</a:t>
            </a:r>
          </a:p>
        </p:txBody>
      </p:sp>
      <p:sp>
        <p:nvSpPr>
          <p:cNvPr id="6" name="TextBox 5"/>
          <p:cNvSpPr txBox="1"/>
          <p:nvPr/>
        </p:nvSpPr>
        <p:spPr>
          <a:xfrm>
            <a:off x="457200" y="1280160"/>
            <a:ext cx="4389120" cy="4572000"/>
          </a:xfrm>
          <a:prstGeom prst="rect">
            <a:avLst/>
          </a:prstGeom>
          <a:noFill/>
        </p:spPr>
        <p:txBody>
          <a:bodyPr wrap="square">
            <a:spAutoFit/>
          </a:bodyPr>
          <a:lstStyle/>
          <a:p/>
          <a:p>
            <a:pPr>
              <a:spcAft>
                <a:spcPts val="1200"/>
              </a:spcAft>
              <a:defRPr sz="1100">
                <a:solidFill>
                  <a:srgbClr val="3C3C3C"/>
                </a:solidFill>
                <a:latin typeface="Arial"/>
              </a:defRPr>
            </a:pPr>
            <a:r>
              <a:t>■ The company specializes in technology solutions.</a:t>
            </a:r>
          </a:p>
          <a:p>
            <a:pPr>
              <a:spcAft>
                <a:spcPts val="1200"/>
              </a:spcAft>
              <a:defRPr sz="1100">
                <a:solidFill>
                  <a:srgbClr val="3C3C3C"/>
                </a:solidFill>
                <a:latin typeface="Arial"/>
              </a:defRPr>
            </a:pPr>
            <a:r>
              <a:t>■ Headquarters located at a specified city, country.</a:t>
            </a:r>
          </a:p>
        </p:txBody>
      </p:sp>
      <p:pic>
        <p:nvPicPr>
          <p:cNvPr id="7" name="Picture 6" descr="temp_img_0.jpg"/>
          <p:cNvPicPr>
            <a:picLocks noChangeAspect="1"/>
          </p:cNvPicPr>
          <p:nvPr/>
        </p:nvPicPr>
        <p:blipFill>
          <a:blip r:embed="rId2"/>
          <a:stretch>
            <a:fillRect/>
          </a:stretch>
        </p:blipFill>
        <p:spPr>
          <a:xfrm>
            <a:off x="5029200" y="1371600"/>
            <a:ext cx="4114800" cy="30861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0" y="182880"/>
            <a:ext cx="1371600" cy="457200"/>
          </a:xfrm>
          <a:prstGeom prst="rect">
            <a:avLst/>
          </a:prstGeom>
          <a:noFill/>
        </p:spPr>
        <p:txBody>
          <a:bodyPr wrap="none">
            <a:spAutoFit/>
          </a:bodyPr>
          <a:lstStyle/>
          <a:p>
            <a:pPr algn="r">
              <a:defRPr b="1" sz="1400">
                <a:solidFill>
                  <a:srgbClr val="2E004B"/>
                </a:solidFill>
                <a:latin typeface="Arial"/>
              </a:defRPr>
            </a:pPr>
            <a:r>
              <a:t>KELP</a:t>
            </a:r>
          </a:p>
        </p:txBody>
      </p:sp>
      <p:sp>
        <p:nvSpPr>
          <p:cNvPr id="3" name="TextBox 2"/>
          <p:cNvSpPr txBox="1"/>
          <p:nvPr/>
        </p:nvSpPr>
        <p:spPr>
          <a:xfrm>
            <a:off x="457200" y="365760"/>
            <a:ext cx="6858000" cy="731520"/>
          </a:xfrm>
          <a:prstGeom prst="rect">
            <a:avLst/>
          </a:prstGeom>
          <a:noFill/>
        </p:spPr>
        <p:txBody>
          <a:bodyPr wrap="none">
            <a:spAutoFit/>
          </a:bodyPr>
          <a:lstStyle/>
          <a:p>
            <a:pPr>
              <a:defRPr b="1" sz="2400">
                <a:solidFill>
                  <a:srgbClr val="2E004B"/>
                </a:solidFill>
                <a:latin typeface="Arial"/>
              </a:defRPr>
            </a:pPr>
            <a:r>
              <a:t>FINANCIAL &amp; OPERATIONAL SCALE</a:t>
            </a:r>
          </a:p>
        </p:txBody>
      </p:sp>
      <p:cxnSp>
        <p:nvCxnSpPr>
          <p:cNvPr id="4" name="Connector 3"/>
          <p:cNvCxnSpPr/>
          <p:nvPr/>
        </p:nvCxnSpPr>
        <p:spPr>
          <a:xfrm>
            <a:off x="457200" y="1005840"/>
            <a:ext cx="8229600" cy="0"/>
          </a:xfrm>
          <a:prstGeom prst="line">
            <a:avLst/>
          </a:prstGeom>
          <a:ln w="38100">
            <a:solidFill>
              <a:srgbClr val="FF645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92240"/>
            <a:ext cx="8229600" cy="365760"/>
          </a:xfrm>
          <a:prstGeom prst="rect">
            <a:avLst/>
          </a:prstGeom>
          <a:noFill/>
        </p:spPr>
        <p:txBody>
          <a:bodyPr wrap="none">
            <a:spAutoFit/>
          </a:bodyPr>
          <a:lstStyle/>
          <a:p>
            <a:pPr algn="ctr">
              <a:defRPr sz="900">
                <a:solidFill>
                  <a:srgbClr val="969696"/>
                </a:solidFill>
                <a:latin typeface="Arial"/>
              </a:defRPr>
            </a:pPr>
            <a:r>
              <a:t>Strictly Private &amp; Confidential – Prepared by Kelp M&amp;A Team</a:t>
            </a:r>
          </a:p>
        </p:txBody>
      </p:sp>
      <p:sp>
        <p:nvSpPr>
          <p:cNvPr id="6" name="TextBox 5"/>
          <p:cNvSpPr txBox="1"/>
          <p:nvPr/>
        </p:nvSpPr>
        <p:spPr>
          <a:xfrm>
            <a:off x="457200" y="1280160"/>
            <a:ext cx="4389120" cy="4572000"/>
          </a:xfrm>
          <a:prstGeom prst="rect">
            <a:avLst/>
          </a:prstGeom>
          <a:noFill/>
        </p:spPr>
        <p:txBody>
          <a:bodyPr wrap="square">
            <a:spAutoFit/>
          </a:bodyPr>
          <a:lstStyle/>
          <a:p/>
          <a:p>
            <a:pPr>
              <a:spcAft>
                <a:spcPts val="1200"/>
              </a:spcAft>
              <a:defRPr sz="1100">
                <a:solidFill>
                  <a:srgbClr val="3C3C3C"/>
                </a:solidFill>
                <a:latin typeface="Arial"/>
              </a:defRPr>
            </a:pPr>
            <a:r>
              <a:t>■ Revenue for the year 2019: $VALUE.</a:t>
            </a:r>
          </a:p>
          <a:p>
            <a:pPr>
              <a:spcAft>
                <a:spcPts val="1200"/>
              </a:spcAft>
              <a:defRPr sz="1100">
                <a:solidFill>
                  <a:srgbClr val="3C3C3C"/>
                </a:solidFill>
                <a:latin typeface="Arial"/>
              </a:defRPr>
            </a:pPr>
            <a:r>
              <a:t>■ EBITDA for the year 2020: $VALUE.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0" y="182880"/>
            <a:ext cx="1371600" cy="457200"/>
          </a:xfrm>
          <a:prstGeom prst="rect">
            <a:avLst/>
          </a:prstGeom>
          <a:noFill/>
        </p:spPr>
        <p:txBody>
          <a:bodyPr wrap="none">
            <a:spAutoFit/>
          </a:bodyPr>
          <a:lstStyle/>
          <a:p>
            <a:pPr algn="r">
              <a:defRPr b="1" sz="1400">
                <a:solidFill>
                  <a:srgbClr val="2E004B"/>
                </a:solidFill>
                <a:latin typeface="Arial"/>
              </a:defRPr>
            </a:pPr>
            <a:r>
              <a:t>KELP</a:t>
            </a:r>
          </a:p>
        </p:txBody>
      </p:sp>
      <p:sp>
        <p:nvSpPr>
          <p:cNvPr id="3" name="TextBox 2"/>
          <p:cNvSpPr txBox="1"/>
          <p:nvPr/>
        </p:nvSpPr>
        <p:spPr>
          <a:xfrm>
            <a:off x="457200" y="365760"/>
            <a:ext cx="6858000" cy="731520"/>
          </a:xfrm>
          <a:prstGeom prst="rect">
            <a:avLst/>
          </a:prstGeom>
          <a:noFill/>
        </p:spPr>
        <p:txBody>
          <a:bodyPr wrap="none">
            <a:spAutoFit/>
          </a:bodyPr>
          <a:lstStyle/>
          <a:p>
            <a:pPr>
              <a:defRPr b="1" sz="2400">
                <a:solidFill>
                  <a:srgbClr val="2E004B"/>
                </a:solidFill>
                <a:latin typeface="Arial"/>
              </a:defRPr>
            </a:pPr>
            <a:r>
              <a:t>INVESTMENT HIGHLIGHTS</a:t>
            </a:r>
          </a:p>
        </p:txBody>
      </p:sp>
      <p:cxnSp>
        <p:nvCxnSpPr>
          <p:cNvPr id="4" name="Connector 3"/>
          <p:cNvCxnSpPr/>
          <p:nvPr/>
        </p:nvCxnSpPr>
        <p:spPr>
          <a:xfrm>
            <a:off x="457200" y="1005840"/>
            <a:ext cx="8229600" cy="0"/>
          </a:xfrm>
          <a:prstGeom prst="line">
            <a:avLst/>
          </a:prstGeom>
          <a:ln w="38100">
            <a:solidFill>
              <a:srgbClr val="FF645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92240"/>
            <a:ext cx="8229600" cy="365760"/>
          </a:xfrm>
          <a:prstGeom prst="rect">
            <a:avLst/>
          </a:prstGeom>
          <a:noFill/>
        </p:spPr>
        <p:txBody>
          <a:bodyPr wrap="none">
            <a:spAutoFit/>
          </a:bodyPr>
          <a:lstStyle/>
          <a:p>
            <a:pPr algn="ctr">
              <a:defRPr sz="900">
                <a:solidFill>
                  <a:srgbClr val="969696"/>
                </a:solidFill>
                <a:latin typeface="Arial"/>
              </a:defRPr>
            </a:pPr>
            <a:r>
              <a:t>Strictly Private &amp; Confidential – Prepared by Kelp M&amp;A Team</a:t>
            </a:r>
          </a:p>
        </p:txBody>
      </p:sp>
      <p:sp>
        <p:nvSpPr>
          <p:cNvPr id="6" name="TextBox 5"/>
          <p:cNvSpPr txBox="1"/>
          <p:nvPr/>
        </p:nvSpPr>
        <p:spPr>
          <a:xfrm>
            <a:off x="457200" y="1280160"/>
            <a:ext cx="4389120" cy="4572000"/>
          </a:xfrm>
          <a:prstGeom prst="rect">
            <a:avLst/>
          </a:prstGeom>
          <a:noFill/>
        </p:spPr>
        <p:txBody>
          <a:bodyPr wrap="square">
            <a:spAutoFit/>
          </a:bodyPr>
          <a:lstStyle/>
          <a:p/>
          <a:p>
            <a:pPr>
              <a:spcAft>
                <a:spcPts val="1200"/>
              </a:spcAft>
              <a:defRPr sz="1100">
                <a:solidFill>
                  <a:srgbClr val="3C3C3C"/>
                </a:solidFill>
                <a:latin typeface="Arial"/>
              </a:defRPr>
            </a:pPr>
            <a:r>
              <a:t>■ Number of orders received in the year 2019: $VALUE.</a:t>
            </a:r>
          </a:p>
          <a:p>
            <a:pPr>
              <a:spcAft>
                <a:spcPts val="1200"/>
              </a:spcAft>
              <a:defRPr sz="1100">
                <a:solidFill>
                  <a:srgbClr val="3C3C3C"/>
                </a:solidFill>
                <a:latin typeface="Arial"/>
              </a:defRPr>
            </a:pPr>
            <a:r>
              <a:t>■ Capacity or production figures for Q4 2020: $VALUE.</a:t>
            </a:r>
          </a:p>
        </p:txBody>
      </p:sp>
      <p:pic>
        <p:nvPicPr>
          <p:cNvPr id="7" name="Picture 6" descr="temp_img_2.jpg"/>
          <p:cNvPicPr>
            <a:picLocks noChangeAspect="1"/>
          </p:cNvPicPr>
          <p:nvPr/>
        </p:nvPicPr>
        <p:blipFill>
          <a:blip r:embed="rId2"/>
          <a:stretch>
            <a:fillRect/>
          </a:stretch>
        </p:blipFill>
        <p:spPr>
          <a:xfrm>
            <a:off x="5029200" y="1371600"/>
            <a:ext cx="4114800" cy="30861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none">
            <a:spAutoFit/>
          </a:bodyPr>
          <a:lstStyle/>
          <a:p>
            <a:pPr>
              <a:defRPr b="1" sz="2400">
                <a:solidFill>
                  <a:srgbClr val="2E004B"/>
                </a:solidFill>
                <a:latin typeface="Arial"/>
              </a:defRPr>
            </a:pPr>
            <a:r>
              <a:t>Disclaimer</a:t>
            </a:r>
          </a:p>
        </p:txBody>
      </p:sp>
      <p:cxnSp>
        <p:nvCxnSpPr>
          <p:cNvPr id="3" name="Connector 2"/>
          <p:cNvCxnSpPr/>
          <p:nvPr/>
        </p:nvCxnSpPr>
        <p:spPr>
          <a:xfrm>
            <a:off x="457200" y="1097280"/>
            <a:ext cx="8229600" cy="0"/>
          </a:xfrm>
          <a:prstGeom prst="line">
            <a:avLst/>
          </a:prstGeom>
          <a:ln w="25400">
            <a:solidFill>
              <a:srgbClr val="FF64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71600"/>
            <a:ext cx="8229600" cy="4572000"/>
          </a:xfrm>
          <a:prstGeom prst="rect">
            <a:avLst/>
          </a:prstGeom>
          <a:noFill/>
        </p:spPr>
        <p:txBody>
          <a:bodyPr wrap="square">
            <a:spAutoFit/>
          </a:bodyPr>
          <a:lstStyle/>
          <a:p>
            <a:pPr algn="just">
              <a:defRPr sz="1000">
                <a:solidFill>
                  <a:srgbClr val="3C3C3C"/>
                </a:solidFill>
                <a:latin typeface="Arial"/>
              </a:defRPr>
            </a:pPr>
            <a:r>
              <a:t>This presentation is strictly confidential and is being provided to you solely for your information. By accepting this presentation, you agree to keep it confidential and not to distribute it to any other person.</a:t>
            </a:r>
            <a:br/>
            <a:br/>
            <a:r>
              <a:t>This document does not constitute an offer to sell or a solicitation of an offer to buy any securities. The information contained herein has been obtained from sources believed to be reliable but is not guaranteed as to accuracy or completeness. Project Apex and Kelp M&amp;A Team make no representation or warranty regarding the accuracy of the information.</a:t>
            </a:r>
            <a:br/>
            <a:br/>
            <a:r>
              <a:t>This presentation may contain forward-looking statements that involve risks and uncertainties. Actual results may differ materially from those projected.</a:t>
            </a:r>
          </a:p>
        </p:txBody>
      </p:sp>
      <p:sp>
        <p:nvSpPr>
          <p:cNvPr id="5" name="TextBox 4"/>
          <p:cNvSpPr txBox="1"/>
          <p:nvPr/>
        </p:nvSpPr>
        <p:spPr>
          <a:xfrm>
            <a:off x="457200" y="6492240"/>
            <a:ext cx="8229600" cy="365760"/>
          </a:xfrm>
          <a:prstGeom prst="rect">
            <a:avLst/>
          </a:prstGeom>
          <a:noFill/>
        </p:spPr>
        <p:txBody>
          <a:bodyPr wrap="none">
            <a:spAutoFit/>
          </a:bodyPr>
          <a:lstStyle/>
          <a:p>
            <a:pPr algn="ctr">
              <a:defRPr sz="900">
                <a:solidFill>
                  <a:srgbClr val="969696"/>
                </a:solidFill>
                <a:latin typeface="Arial"/>
              </a:defRPr>
            </a:pPr>
            <a:r>
              <a:t>Strictly Private &amp; Confidential – Prepared by Kelp M&amp;A Team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