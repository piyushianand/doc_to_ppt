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b="1">
                <a:latin typeface="Arial"/>
              </a:defRPr>
            </a:pPr>
            <a:r>
              <a:t>Revenue Trend</a:t>
            </a:r>
          </a:p>
        </c:rich>
      </c:tx>
      <c:layout/>
      <c:overlay val="0"/>
    </c:title>
    <c:autoTitleDeleted val="0"/>
    <c:plotArea>
      <c:barChart>
        <c:barDir val="col"/>
        <c:grouping val="clustered"/>
        <c:ser>
          <c:idx val="0"/>
          <c:order val="0"/>
          <c:tx>
            <c:strRef>
              <c:f>Sheet1!$B$1</c:f>
              <c:strCache>
                <c:ptCount val="1"/>
                <c:pt idx="0">
                  <c:v>Series 1</c:v>
                </c:pt>
              </c:strCache>
            </c:strRef>
          </c:tx>
          <c:cat>
            <c:strRef>
              <c:f>Sheet1!$A$2:$A$6</c:f>
              <c:strCache>
                <c:ptCount val="5"/>
                <c:pt idx="0">
                  <c:v>2019</c:v>
                </c:pt>
                <c:pt idx="1">
                  <c:v>2020</c:v>
                </c:pt>
                <c:pt idx="2">
                  <c:v>2021</c:v>
                </c:pt>
                <c:pt idx="3">
                  <c:v>2022</c:v>
                </c:pt>
                <c:pt idx="4">
                  <c:v>2023</c:v>
                </c:pt>
              </c:strCache>
            </c:strRef>
          </c:cat>
          <c:val>
            <c:numRef>
              <c:f>Sheet1!$B$2:$B$6</c:f>
              <c:numCache>
                <c:formatCode>General</c:formatCode>
                <c:ptCount val="5"/>
                <c:pt idx="0">
                  <c:v>-53.6</c:v>
                </c:pt>
                <c:pt idx="1">
                  <c:v>-97.8</c:v>
                </c:pt>
                <c:pt idx="2">
                  <c:v>23.5</c:v>
                </c:pt>
                <c:pt idx="3">
                  <c:v>48.9</c:v>
                </c:pt>
                <c:pt idx="4">
                  <c:v>-56.7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004B"/>
        </a:solidFill>
        <a:effectLst/>
      </p:bgPr>
    </p:bg>
    <p:spTree>
      <p:nvGrpSpPr>
        <p:cNvPr id="1" name=""/>
        <p:cNvGrpSpPr/>
        <p:nvPr/>
      </p:nvGrpSpPr>
      <p:grpSpPr/>
      <p:sp>
        <p:nvSpPr>
          <p:cNvPr id="2" name="Right Triangle 1"/>
          <p:cNvSpPr/>
          <p:nvPr/>
        </p:nvSpPr>
        <p:spPr>
          <a:xfrm>
            <a:off x="5943600" y="0"/>
            <a:ext cx="3200400" cy="6858000"/>
          </a:xfrm>
          <a:prstGeom prst="rtTriangl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0" y="457200"/>
            <a:ext cx="1828800" cy="457200"/>
          </a:xfrm>
          <a:prstGeom prst="rect">
            <a:avLst/>
          </a:prstGeom>
          <a:noFill/>
        </p:spPr>
        <p:txBody>
          <a:bodyPr wrap="none">
            <a:spAutoFit/>
          </a:bodyPr>
          <a:lstStyle/>
          <a:p>
            <a:pPr algn="r">
              <a:defRPr b="1" sz="1800">
                <a:solidFill>
                  <a:srgbClr val="FFFFFF"/>
                </a:solidFill>
                <a:latin typeface="Arial"/>
              </a:defRPr>
            </a:pPr>
            <a:r>
              <a:t>KELP</a:t>
            </a:r>
          </a:p>
        </p:txBody>
      </p:sp>
      <p:sp>
        <p:nvSpPr>
          <p:cNvPr id="4" name="TextBox 3"/>
          <p:cNvSpPr txBox="1"/>
          <p:nvPr/>
        </p:nvSpPr>
        <p:spPr>
          <a:xfrm>
            <a:off x="914400" y="2743200"/>
            <a:ext cx="5486400" cy="1828800"/>
          </a:xfrm>
          <a:prstGeom prst="rect">
            <a:avLst/>
          </a:prstGeom>
          <a:noFill/>
        </p:spPr>
        <p:txBody>
          <a:bodyPr wrap="none">
            <a:spAutoFit/>
          </a:bodyPr>
          <a:lstStyle/>
          <a:p>
            <a:pPr>
              <a:defRPr b="1" sz="4400">
                <a:solidFill>
                  <a:srgbClr val="FFFFFF"/>
                </a:solidFill>
                <a:latin typeface="Arial"/>
              </a:defRPr>
            </a:pPr>
            <a:r>
              <a:t>Project Apex</a:t>
            </a:r>
            <a:br/>
            <a:r>
              <a:t>Investment Opportunity</a:t>
            </a:r>
          </a:p>
        </p:txBody>
      </p:sp>
      <p:sp>
        <p:nvSpPr>
          <p:cNvPr id="5" name="TextBox 4"/>
          <p:cNvSpPr txBox="1"/>
          <p:nvPr/>
        </p:nvSpPr>
        <p:spPr>
          <a:xfrm>
            <a:off x="914400" y="4572000"/>
            <a:ext cx="4572000" cy="914400"/>
          </a:xfrm>
          <a:prstGeom prst="rect">
            <a:avLst/>
          </a:prstGeom>
          <a:noFill/>
        </p:spPr>
        <p:txBody>
          <a:bodyPr wrap="none">
            <a:spAutoFit/>
          </a:bodyPr>
          <a:lstStyle/>
          <a:p>
            <a:pPr>
              <a:defRPr sz="1400">
                <a:solidFill>
                  <a:srgbClr val="FF6450"/>
                </a:solidFill>
                <a:latin typeface="Arial"/>
              </a:defRPr>
            </a:pPr>
            <a:r>
              <a:t>Strictly Private &amp; Confidential – Prepared by Kelp M&amp;A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BUSINESS PROFILE &amp; INFRASTRUCTURE</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Specializes in defense, aerospace, and space electronics solutions</a:t>
            </a:r>
          </a:p>
          <a:p>
            <a:pPr>
              <a:spcAft>
                <a:spcPts val="1200"/>
              </a:spcAft>
              <a:defRPr sz="1100">
                <a:solidFill>
                  <a:srgbClr val="3C3C3C"/>
                </a:solidFill>
                <a:latin typeface="Arial"/>
              </a:defRPr>
            </a:pPr>
            <a:r>
              <a:t>■ 350,000 sq. ft. manufacturing facility in Bangalore</a:t>
            </a:r>
          </a:p>
          <a:p>
            <a:pPr>
              <a:spcAft>
                <a:spcPts val="1200"/>
              </a:spcAft>
              <a:defRPr sz="1100">
                <a:solidFill>
                  <a:srgbClr val="3C3C3C"/>
                </a:solidFill>
                <a:latin typeface="Arial"/>
              </a:defRPr>
            </a:pPr>
            <a:r>
              <a:t>■ Serves aerospace, defence, space, medical, automotive, telecom sectors</a:t>
            </a:r>
          </a:p>
          <a:p>
            <a:pPr>
              <a:spcAft>
                <a:spcPts val="1200"/>
              </a:spcAft>
              <a:defRPr sz="1100">
                <a:solidFill>
                  <a:srgbClr val="3C3C3C"/>
                </a:solidFill>
                <a:latin typeface="Arial"/>
              </a:defRPr>
            </a:pPr>
            <a:r>
              <a:t>■ Certifications: ISO 9001, NADCAP</a:t>
            </a:r>
          </a:p>
          <a:p>
            <a:pPr>
              <a:spcAft>
                <a:spcPts val="1200"/>
              </a:spcAft>
              <a:defRPr sz="1100">
                <a:solidFill>
                  <a:srgbClr val="3C3C3C"/>
                </a:solidFill>
                <a:latin typeface="Arial"/>
              </a:defRPr>
            </a:pPr>
            <a:r>
              <a:t>■ Headquartered in Bangalore with additional facilities across India</a:t>
            </a:r>
          </a:p>
        </p:txBody>
      </p:sp>
      <p:pic>
        <p:nvPicPr>
          <p:cNvPr id="7" name="Picture 6" descr="temp_img_0.jpg"/>
          <p:cNvPicPr>
            <a:picLocks noChangeAspect="1"/>
          </p:cNvPicPr>
          <p:nvPr/>
        </p:nvPicPr>
        <p:blipFill>
          <a:blip r:embed="rId2"/>
          <a:stretch>
            <a:fillRect/>
          </a:stretch>
        </p:blipFill>
        <p:spPr>
          <a:xfrm>
            <a:off x="5029200" y="1371600"/>
            <a:ext cx="4114800" cy="30861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FINANCIAL &amp; OPERATIONAL SCALE</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Revenue in 2019: -53.6 million USD</a:t>
            </a:r>
          </a:p>
          <a:p>
            <a:pPr>
              <a:spcAft>
                <a:spcPts val="1200"/>
              </a:spcAft>
              <a:defRPr sz="1100">
                <a:solidFill>
                  <a:srgbClr val="3C3C3C"/>
                </a:solidFill>
                <a:latin typeface="Arial"/>
              </a:defRPr>
            </a:pPr>
            <a:r>
              <a:t>■ EBITDA in 2020: -97.8 million USD</a:t>
            </a:r>
          </a:p>
          <a:p>
            <a:pPr>
              <a:spcAft>
                <a:spcPts val="1200"/>
              </a:spcAft>
              <a:defRPr sz="1100">
                <a:solidFill>
                  <a:srgbClr val="3C3C3C"/>
                </a:solidFill>
                <a:latin typeface="Arial"/>
              </a:defRPr>
            </a:pPr>
            <a:r>
              <a:t>■ Net Debt as of 2021: 23.5 million USD</a:t>
            </a:r>
          </a:p>
          <a:p>
            <a:pPr>
              <a:spcAft>
                <a:spcPts val="1200"/>
              </a:spcAft>
              <a:defRPr sz="1100">
                <a:solidFill>
                  <a:srgbClr val="3C3C3C"/>
                </a:solidFill>
                <a:latin typeface="Arial"/>
              </a:defRPr>
            </a:pPr>
            <a:r>
              <a:t>■ Revenue in 2022: 48.9 million USD</a:t>
            </a:r>
          </a:p>
          <a:p>
            <a:pPr>
              <a:spcAft>
                <a:spcPts val="1200"/>
              </a:spcAft>
              <a:defRPr sz="1100">
                <a:solidFill>
                  <a:srgbClr val="3C3C3C"/>
                </a:solidFill>
                <a:latin typeface="Arial"/>
              </a:defRPr>
            </a:pPr>
            <a:r>
              <a:t>■ EBITDA in 2023: -56.7 million USD</a:t>
            </a:r>
          </a:p>
        </p:txBody>
      </p:sp>
      <p:graphicFrame>
        <p:nvGraphicFramePr>
          <p:cNvPr id="7" name="Chart 6"/>
          <p:cNvGraphicFramePr>
            <a:graphicFrameLocks noGrp="1"/>
          </p:cNvGraphicFramePr>
          <p:nvPr/>
        </p:nvGraphicFramePr>
        <p:xfrm>
          <a:off x="5029200" y="1371600"/>
          <a:ext cx="3657600" cy="32004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INVESTMENT HIGHLIGHTS</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DRDO order for Intersatellite Link Payload Subsystems (16-month execution, 2024)</a:t>
            </a:r>
          </a:p>
          <a:p>
            <a:pPr>
              <a:spcAft>
                <a:spcPts val="1200"/>
              </a:spcAft>
              <a:defRPr sz="1100">
                <a:solidFill>
                  <a:srgbClr val="3C3C3C"/>
                </a:solidFill>
                <a:latin typeface="Arial"/>
              </a:defRPr>
            </a:pPr>
            <a:r>
              <a:t>■ Kaizen Excellence Award winner, National level (2023-24)</a:t>
            </a:r>
          </a:p>
          <a:p>
            <a:pPr>
              <a:spcAft>
                <a:spcPts val="1200"/>
              </a:spcAft>
              <a:defRPr sz="1100">
                <a:solidFill>
                  <a:srgbClr val="3C3C3C"/>
                </a:solidFill>
                <a:latin typeface="Arial"/>
              </a:defRPr>
            </a:pPr>
            <a:r>
              <a:t>■ Certifications: ISO 9001:2015, NADCAP</a:t>
            </a:r>
          </a:p>
          <a:p>
            <a:pPr>
              <a:spcAft>
                <a:spcPts val="1200"/>
              </a:spcAft>
              <a:defRPr sz="1100">
                <a:solidFill>
                  <a:srgbClr val="3C3C3C"/>
                </a:solidFill>
                <a:latin typeface="Arial"/>
              </a:defRPr>
            </a:pPr>
            <a:r>
              <a:t>■ 350,000 sq ft manufacturing facility</a:t>
            </a:r>
          </a:p>
          <a:p>
            <a:pPr>
              <a:spcAft>
                <a:spcPts val="1200"/>
              </a:spcAft>
              <a:defRPr sz="1100">
                <a:solidFill>
                  <a:srgbClr val="3C3C3C"/>
                </a:solidFill>
                <a:latin typeface="Arial"/>
              </a:defRPr>
            </a:pPr>
            <a:r>
              <a:t>■ Headquartered in Bangalore with additional facilities across India</a:t>
            </a:r>
          </a:p>
        </p:txBody>
      </p:sp>
      <p:pic>
        <p:nvPicPr>
          <p:cNvPr id="7" name="Picture 6" descr="temp_img_2.jpg"/>
          <p:cNvPicPr>
            <a:picLocks noChangeAspect="1"/>
          </p:cNvPicPr>
          <p:nvPr/>
        </p:nvPicPr>
        <p:blipFill>
          <a:blip r:embed="rId2"/>
          <a:stretch>
            <a:fillRect/>
          </a:stretch>
        </p:blipFill>
        <p:spPr>
          <a:xfrm>
            <a:off x="5029200" y="1371600"/>
            <a:ext cx="4114800" cy="30861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none">
            <a:spAutoFit/>
          </a:bodyPr>
          <a:lstStyle/>
          <a:p>
            <a:pPr>
              <a:defRPr b="1" sz="2400">
                <a:solidFill>
                  <a:srgbClr val="2E004B"/>
                </a:solidFill>
                <a:latin typeface="Arial"/>
              </a:defRPr>
            </a:pPr>
            <a:r>
              <a:t>Disclaimer</a:t>
            </a:r>
          </a:p>
        </p:txBody>
      </p:sp>
      <p:cxnSp>
        <p:nvCxnSpPr>
          <p:cNvPr id="3" name="Connector 2"/>
          <p:cNvCxnSpPr/>
          <p:nvPr/>
        </p:nvCxnSpPr>
        <p:spPr>
          <a:xfrm>
            <a:off x="457200" y="1097280"/>
            <a:ext cx="8229600" cy="0"/>
          </a:xfrm>
          <a:prstGeom prst="line">
            <a:avLst/>
          </a:prstGeom>
          <a:ln w="25400">
            <a:solidFill>
              <a:srgbClr val="FF64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71600"/>
            <a:ext cx="8229600" cy="4572000"/>
          </a:xfrm>
          <a:prstGeom prst="rect">
            <a:avLst/>
          </a:prstGeom>
          <a:noFill/>
        </p:spPr>
        <p:txBody>
          <a:bodyPr wrap="square">
            <a:spAutoFit/>
          </a:bodyPr>
          <a:lstStyle/>
          <a:p>
            <a:pPr algn="just">
              <a:defRPr sz="1000">
                <a:solidFill>
                  <a:srgbClr val="3C3C3C"/>
                </a:solidFill>
                <a:latin typeface="Arial"/>
              </a:defRPr>
            </a:pPr>
            <a:r>
              <a:t>This presentation is strictly confidential and is being provided to you solely for your information. By accepting this presentation, you agree to keep it confidential and not to distribute it to any other person.</a:t>
            </a:r>
            <a:br/>
            <a:br/>
            <a:r>
              <a:t>This document does not constitute an offer to sell or a solicitation of an offer to buy any securities. The information contained herein has been obtained from sources believed to be reliable but is not guaranteed as to accuracy or completeness. Project Apex and Kelp M&amp;A Team make no representation or warranty regarding the accuracy of the information.</a:t>
            </a:r>
            <a:br/>
            <a:br/>
            <a:r>
              <a:t>This presentation may contain forward-looking statements that involve risks and uncertainties. Actual results may differ materially from those projected.</a:t>
            </a:r>
          </a:p>
        </p:txBody>
      </p: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