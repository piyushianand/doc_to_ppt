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0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5943600" y="0"/>
            <a:ext cx="3200400" cy="6858000"/>
          </a:xfrm>
          <a:prstGeom prst="rtTriangl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400">
                <a:solidFill>
                  <a:srgbClr val="FFFFFF"/>
                </a:solidFill>
                <a:latin typeface="Arial"/>
              </a:defRPr>
            </a:pPr>
            <a:r>
              <a:t>Project Apex</a:t>
            </a:r>
            <a:br/>
            <a:r>
              <a:t>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6450"/>
                </a:solidFill>
                <a:latin typeface="Arial"/>
              </a:defRPr>
            </a:pPr>
            <a:r>
              <a:t>Strictly 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E004B"/>
                </a:solidFill>
                <a:latin typeface="Arial"/>
              </a:defRPr>
            </a:pPr>
            <a:r>
              <a:t>BUSINESS PROFILE &amp; INFRASTRUCTURE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38100">
            <a:solidFill>
              <a:srgbClr val="FF6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4B4B4"/>
                </a:solidFill>
                <a:latin typeface="Arial"/>
              </a:defRPr>
            </a:pPr>
            <a:r>
              <a:t>Strictly Private &amp; Confidential – Project Apex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Manufactures automotive components.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Serves North America, Europe, and Asia.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Operates 3 plants with combined capacity of 500k units/year.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ISO 9001 &amp; IATF certified facilities.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End-users include major automotive OEMs.</a:t>
            </a:r>
          </a:p>
        </p:txBody>
      </p:sp>
      <p:pic>
        <p:nvPicPr>
          <p:cNvPr id="6" name="Picture 5" descr="temp_img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E004B"/>
                </a:solidFill>
                <a:latin typeface="Arial"/>
              </a:defRPr>
            </a:pPr>
            <a:r>
              <a:t>FINANCIAL &amp; OPERATIONAL SCALE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38100">
            <a:solidFill>
              <a:srgbClr val="FF6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4B4B4"/>
                </a:solidFill>
                <a:latin typeface="Arial"/>
              </a:defRPr>
            </a:pPr>
            <a:r>
              <a:t>Strictly Private &amp; Confidential – Project Apex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Revenue of $150M in 2022, up 10% from 2021.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EBITDA margin of 18.5% in 2022.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Headcount of 1,200 employees across operations.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Asset base valued at $300M with recent CAPEX of $50M for expansion.</a:t>
            </a:r>
          </a:p>
        </p:txBody>
      </p:sp>
      <p:pic>
        <p:nvPicPr>
          <p:cNvPr id="6" name="Picture 5" descr="temp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2E004B"/>
                </a:solidFill>
                <a:latin typeface="Arial"/>
              </a:defRPr>
            </a:pPr>
            <a:r>
              <a:t>INVESTMENT HIGHLIGHTS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38100">
            <a:solidFill>
              <a:srgbClr val="FF6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4B4B4"/>
                </a:solidFill>
                <a:latin typeface="Arial"/>
              </a:defRPr>
            </a:pPr>
            <a:r>
              <a:t>Strictly Private &amp; Confidential – Project Apex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Patented manufacturing process reduces costs by 20%.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Key client: Ford Motor Company, with long-term supply agreement.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Order book for next 12 months exceeds $200M.</a:t>
            </a:r>
          </a:p>
          <a:p>
            <a:pPr>
              <a:spcAft>
                <a:spcPts val="1200"/>
              </a:spcAft>
              <a:defRPr sz="1100">
                <a:solidFill>
                  <a:srgbClr val="3C3C3C"/>
                </a:solidFill>
                <a:latin typeface="Arial"/>
              </a:defRPr>
            </a:pPr>
            <a:r>
              <a:t>■ Management team has over 100 years of combined experience in automotive industry.</a:t>
            </a:r>
          </a:p>
        </p:txBody>
      </p:sp>
      <p:pic>
        <p:nvPicPr>
          <p:cNvPr id="6" name="Picture 5" descr="temp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