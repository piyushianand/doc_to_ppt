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b="1">
                <a:latin typeface="Arial"/>
              </a:defRPr>
            </a:pPr>
            <a:r>
              <a:t>Revenue Trend</a:t>
            </a:r>
          </a:p>
        </c:rich>
      </c:tx>
      <c:layout/>
      <c:overlay val="0"/>
    </c:title>
    <c:autoTitleDeleted val="0"/>
    <c:plotArea>
      <c:barChart>
        <c:barDir val="col"/>
        <c:grouping val="clustered"/>
        <c:ser>
          <c:idx val="0"/>
          <c:order val="0"/>
          <c:tx>
            <c:strRef>
              <c:f>Sheet1!$B$1</c:f>
              <c:strCache>
                <c:ptCount val="1"/>
                <c:pt idx="0">
                  <c:v>Series 1</c:v>
                </c:pt>
              </c:strCache>
            </c:strRef>
          </c:tx>
          <c:cat>
            <c:strRef>
              <c:f>Sheet1!$A$2:$A$4</c:f>
              <c:strCache>
                <c:ptCount val="3"/>
                <c:pt idx="0">
                  <c:v>2019</c:v>
                </c:pt>
                <c:pt idx="1">
                  <c:v>2020</c:v>
                </c:pt>
                <c:pt idx="2">
                  <c:v>2021</c:v>
                </c:pt>
              </c:strCache>
            </c:strRef>
          </c:cat>
          <c:val>
            <c:numRef>
              <c:f>Sheet1!$B$2:$B$4</c:f>
              <c:numCache>
                <c:formatCode>General</c:formatCode>
                <c:ptCount val="3"/>
                <c:pt idx="0">
                  <c:v>53.6</c:v>
                </c:pt>
                <c:pt idx="1">
                  <c:v>-97.8</c:v>
                </c:pt>
                <c:pt idx="2">
                  <c:v>23.5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Operates in automotive and aerospace sectors.</a:t>
            </a:r>
          </a:p>
          <a:p>
            <a:pPr>
              <a:spcAft>
                <a:spcPts val="1200"/>
              </a:spcAft>
              <a:defRPr sz="1100">
                <a:solidFill>
                  <a:srgbClr val="3C3C3C"/>
                </a:solidFill>
                <a:latin typeface="Arial"/>
              </a:defRPr>
            </a:pPr>
            <a:r>
              <a:t>■ Manufactures forged components for engines.</a:t>
            </a:r>
          </a:p>
          <a:p>
            <a:pPr>
              <a:spcAft>
                <a:spcPts val="1200"/>
              </a:spcAft>
              <a:defRPr sz="1100">
                <a:solidFill>
                  <a:srgbClr val="3C3C3C"/>
                </a:solidFill>
                <a:latin typeface="Arial"/>
              </a:defRPr>
            </a:pPr>
            <a:r>
              <a:t>■ Owns a manufacturing plant in Detroit, USA.</a:t>
            </a:r>
          </a:p>
          <a:p>
            <a:pPr>
              <a:spcAft>
                <a:spcPts val="1200"/>
              </a:spcAft>
              <a:defRPr sz="1100">
                <a:solidFill>
                  <a:srgbClr val="3C3C3C"/>
                </a:solidFill>
                <a:latin typeface="Arial"/>
              </a:defRPr>
            </a:pPr>
            <a:r>
              <a:t>■ ISO 9001 certified for quality management.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Revenue in 2019 was $53.6 million.</a:t>
            </a:r>
          </a:p>
          <a:p>
            <a:pPr>
              <a:spcAft>
                <a:spcPts val="1200"/>
              </a:spcAft>
              <a:defRPr sz="1100">
                <a:solidFill>
                  <a:srgbClr val="3C3C3C"/>
                </a:solidFill>
                <a:latin typeface="Arial"/>
              </a:defRPr>
            </a:pPr>
            <a:r>
              <a:t>■ EBITDA for 2020 was -$97.8 million.</a:t>
            </a:r>
          </a:p>
          <a:p>
            <a:pPr>
              <a:spcAft>
                <a:spcPts val="1200"/>
              </a:spcAft>
              <a:defRPr sz="1100">
                <a:solidFill>
                  <a:srgbClr val="3C3C3C"/>
                </a:solidFill>
                <a:latin typeface="Arial"/>
              </a:defRPr>
            </a:pPr>
            <a:r>
              <a:t>■ Net Debt as of 2021 was $23.5 million.</a:t>
            </a:r>
          </a:p>
        </p:txBody>
      </p:sp>
      <p:graphicFrame>
        <p:nvGraphicFramePr>
          <p:cNvPr id="7" name="Chart 6"/>
          <p:cNvGraphicFramePr>
            <a:graphicFrameLocks noGrp="1"/>
          </p:cNvGraphicFramePr>
          <p:nvPr/>
        </p:nvGraphicFramePr>
        <p:xfrm>
          <a:off x="5029200" y="1371600"/>
          <a:ext cx="3657600" cy="3200400"/>
        </p:xfrm>
        <a:graphic>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Order book value as of Q4 2022 was $120 million.</a:t>
            </a:r>
          </a:p>
          <a:p>
            <a:pPr>
              <a:spcAft>
                <a:spcPts val="1200"/>
              </a:spcAft>
              <a:defRPr sz="1100">
                <a:solidFill>
                  <a:srgbClr val="3C3C3C"/>
                </a:solidFill>
                <a:latin typeface="Arial"/>
              </a:defRPr>
            </a:pPr>
            <a:r>
              <a:t>■ Management team has over 50 years combined experience.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