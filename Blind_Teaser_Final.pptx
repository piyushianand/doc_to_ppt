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008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808080"/>
                </a:solidFill>
              </a:defRPr>
            </a:pPr>
            <a:r>
              <a:t>Strictly Private &amp; Confidential - Generated by Kelp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003366"/>
                </a:solidFill>
              </a:defRPr>
            </a:pPr>
            <a:r>
              <a:t>Business Profile &amp; Infrastructure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>
                <a:solidFill>
                  <a:srgbClr val="404040"/>
                </a:solidFill>
              </a:defRPr>
            </a:pPr>
            <a:r>
              <a:t>• Manufactures precision medical devices.</a:t>
            </a:r>
          </a:p>
          <a:p>
            <a:pPr>
              <a:spcAft>
                <a:spcPts val="1200"/>
              </a:spcAft>
              <a:defRPr sz="1400">
                <a:solidFill>
                  <a:srgbClr val="404040"/>
                </a:solidFill>
              </a:defRPr>
            </a:pPr>
            <a:r>
              <a:t>• Segments include diagnostics, imaging, and therapy.</a:t>
            </a:r>
          </a:p>
          <a:p>
            <a:pPr>
              <a:spcAft>
                <a:spcPts val="1200"/>
              </a:spcAft>
              <a:defRPr sz="1400">
                <a:solidFill>
                  <a:srgbClr val="404040"/>
                </a:solidFill>
              </a:defRPr>
            </a:pPr>
            <a:r>
              <a:t>• Operates 3 facilities in Europe &amp; Asia.</a:t>
            </a:r>
          </a:p>
          <a:p>
            <a:pPr>
              <a:spcAft>
                <a:spcPts val="1200"/>
              </a:spcAft>
              <a:defRPr sz="1400">
                <a:solidFill>
                  <a:srgbClr val="404040"/>
                </a:solidFill>
              </a:defRPr>
            </a:pPr>
            <a:r>
              <a:t>• ISO 13485 certified for medical devices.</a:t>
            </a:r>
          </a:p>
          <a:p>
            <a:pPr>
              <a:spcAft>
                <a:spcPts val="1200"/>
              </a:spcAft>
              <a:defRPr sz="1400">
                <a:solidFill>
                  <a:srgbClr val="404040"/>
                </a:solidFill>
              </a:defRPr>
            </a:pPr>
            <a:r>
              <a:t>• Serves hospitals, clinics, and research institutions.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008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808080"/>
                </a:solidFill>
              </a:defRPr>
            </a:pPr>
            <a:r>
              <a:t>Strictly Private &amp; Confidential - Generated by Kelp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003366"/>
                </a:solidFill>
              </a:defRPr>
            </a:pPr>
            <a:r>
              <a:t>Financial &amp; Operational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>
                <a:solidFill>
                  <a:srgbClr val="404040"/>
                </a:solidFill>
              </a:defRPr>
            </a:pPr>
            <a:r>
              <a:t>• Revenue of $200M in 2021, up 5% from 2020.</a:t>
            </a:r>
          </a:p>
          <a:p>
            <a:pPr>
              <a:spcAft>
                <a:spcPts val="1200"/>
              </a:spcAft>
              <a:defRPr sz="1400">
                <a:solidFill>
                  <a:srgbClr val="404040"/>
                </a:solidFill>
              </a:defRPr>
            </a:pPr>
            <a:r>
              <a:t>• EBITDA margin at 30%, stable over last 3 years.</a:t>
            </a:r>
          </a:p>
          <a:p>
            <a:pPr>
              <a:spcAft>
                <a:spcPts val="1200"/>
              </a:spcAft>
              <a:defRPr sz="1400">
                <a:solidFill>
                  <a:srgbClr val="404040"/>
                </a:solidFill>
              </a:defRPr>
            </a:pPr>
            <a:r>
              <a:t>• Headcount of 1,200 employees globally.</a:t>
            </a:r>
          </a:p>
          <a:p>
            <a:pPr>
              <a:spcAft>
                <a:spcPts val="1200"/>
              </a:spcAft>
              <a:defRPr sz="1400">
                <a:solidFill>
                  <a:srgbClr val="404040"/>
                </a:solidFill>
              </a:defRPr>
            </a:pPr>
            <a:r>
              <a:t>• Asset base valued at $500M, with R&amp;D investments.</a:t>
            </a:r>
          </a:p>
          <a:p>
            <a:pPr>
              <a:spcAft>
                <a:spcPts val="1200"/>
              </a:spcAft>
              <a:defRPr sz="1400">
                <a:solidFill>
                  <a:srgbClr val="404040"/>
                </a:solidFill>
              </a:defRPr>
            </a:pPr>
            <a:r>
              <a:t>• Completed a major expansion in Q4 2021.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008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808080"/>
                </a:solidFill>
              </a:defRPr>
            </a:pPr>
            <a:r>
              <a:t>Strictly Private &amp; Confidential - Generated by Kelp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003366"/>
                </a:solidFill>
              </a:defRPr>
            </a:pPr>
            <a:r>
              <a:t>Investment Highlights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>
                <a:solidFill>
                  <a:srgbClr val="404040"/>
                </a:solidFill>
              </a:defRPr>
            </a:pPr>
            <a:r>
              <a:t>• Patented technology for faster diagnostic processes.</a:t>
            </a:r>
          </a:p>
          <a:p>
            <a:pPr>
              <a:spcAft>
                <a:spcPts val="1200"/>
              </a:spcAft>
              <a:defRPr sz="1400">
                <a:solidFill>
                  <a:srgbClr val="404040"/>
                </a:solidFill>
              </a:defRPr>
            </a:pPr>
            <a:r>
              <a:t>• Key client: Top 3 global healthcare providers.</a:t>
            </a:r>
          </a:p>
          <a:p>
            <a:pPr>
              <a:spcAft>
                <a:spcPts val="1200"/>
              </a:spcAft>
              <a:defRPr sz="1400">
                <a:solidFill>
                  <a:srgbClr val="404040"/>
                </a:solidFill>
              </a:defRPr>
            </a:pPr>
            <a:r>
              <a:t>• Order book of $50M, with contracts extending to 2026.</a:t>
            </a:r>
          </a:p>
          <a:p>
            <a:pPr>
              <a:spcAft>
                <a:spcPts val="1200"/>
              </a:spcAft>
              <a:defRPr sz="1400">
                <a:solidFill>
                  <a:srgbClr val="404040"/>
                </a:solidFill>
              </a:defRPr>
            </a:pPr>
            <a:r>
              <a:t>• Management team with over 50 years combined experience.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