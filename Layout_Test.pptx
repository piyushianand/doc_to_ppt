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drawings/drawing1.xml" ContentType="application/vnd.openxmlformats-officedocument.drawingml.chartshapes+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9" r:id="rId2"/>
    <p:sldId id="256" r:id="rId3"/>
    <p:sldId id="257" r:id="rId4"/>
    <p:sldId id="258" r:id="rId5"/>
    <p:sldId id="260" r:id="rId6"/>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53"/>
    <p:restoredTop sz="94678"/>
  </p:normalViewPr>
  <p:slideViewPr>
    <p:cSldViewPr snapToGrid="0">
      <p:cViewPr>
        <p:scale>
          <a:sx n="121" d="100"/>
          <a:sy n="121" d="100"/>
        </p:scale>
        <p:origin x="2032"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F3E3-F64E-8595-26B091D7A87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F3E3-F64E-8595-26B091D7A87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F3E3-F64E-8595-26B091D7A87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F3E3-F64E-8595-26B091D7A87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Export</c:v>
                </c:pt>
                <c:pt idx="1">
                  <c:v>Domestic</c:v>
                </c:pt>
              </c:strCache>
            </c:strRef>
          </c:cat>
          <c:val>
            <c:numRef>
              <c:f>Sheet1!$B$2:$B$5</c:f>
              <c:numCache>
                <c:formatCode>0%</c:formatCode>
                <c:ptCount val="4"/>
                <c:pt idx="0">
                  <c:v>0.72</c:v>
                </c:pt>
                <c:pt idx="1">
                  <c:v>0.28000000000000003</c:v>
                </c:pt>
              </c:numCache>
            </c:numRef>
          </c:val>
          <c:extLst>
            <c:ext xmlns:c16="http://schemas.microsoft.com/office/drawing/2014/chart" uri="{C3380CC4-5D6E-409C-BE32-E72D297353CC}">
              <c16:uniqueId val="{00000000-99F3-7A42-8386-30952E12F06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Revenue ($Mn)</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Sheet1!$B$2:$B$7</c:f>
              <c:numCache>
                <c:formatCode>General</c:formatCode>
                <c:ptCount val="6"/>
                <c:pt idx="0">
                  <c:v>55</c:v>
                </c:pt>
                <c:pt idx="1">
                  <c:v>62</c:v>
                </c:pt>
                <c:pt idx="2">
                  <c:v>70</c:v>
                </c:pt>
                <c:pt idx="3">
                  <c:v>95</c:v>
                </c:pt>
                <c:pt idx="4">
                  <c:v>115</c:v>
                </c:pt>
                <c:pt idx="5">
                  <c:v>138</c:v>
                </c:pt>
              </c:numCache>
            </c:numRef>
          </c:val>
          <c:extLst>
            <c:ext xmlns:c16="http://schemas.microsoft.com/office/drawing/2014/chart" uri="{C3380CC4-5D6E-409C-BE32-E72D297353CC}">
              <c16:uniqueId val="{00000000-756E-EF4B-B1E4-86C21E913D15}"/>
            </c:ext>
          </c:extLst>
        </c:ser>
        <c:ser>
          <c:idx val="1"/>
          <c:order val="1"/>
          <c:tx>
            <c:strRef>
              <c:f>Sheet1!$C$1</c:f>
              <c:strCache>
                <c:ptCount val="1"/>
                <c:pt idx="0">
                  <c:v>EBITDA ($Mn)</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Sheet1!$C$2:$C$7</c:f>
              <c:numCache>
                <c:formatCode>General</c:formatCode>
                <c:ptCount val="6"/>
                <c:pt idx="0">
                  <c:v>8.8000000000000007</c:v>
                </c:pt>
                <c:pt idx="1">
                  <c:v>12.1</c:v>
                </c:pt>
                <c:pt idx="2">
                  <c:v>13.5</c:v>
                </c:pt>
                <c:pt idx="3">
                  <c:v>18.5</c:v>
                </c:pt>
                <c:pt idx="4">
                  <c:v>22.4</c:v>
                </c:pt>
                <c:pt idx="5">
                  <c:v>26.9</c:v>
                </c:pt>
              </c:numCache>
            </c:numRef>
          </c:val>
          <c:extLst>
            <c:ext xmlns:c16="http://schemas.microsoft.com/office/drawing/2014/chart" uri="{C3380CC4-5D6E-409C-BE32-E72D297353CC}">
              <c16:uniqueId val="{00000001-756E-EF4B-B1E4-86C21E913D15}"/>
            </c:ext>
          </c:extLst>
        </c:ser>
        <c:ser>
          <c:idx val="2"/>
          <c:order val="2"/>
          <c:tx>
            <c:strRef>
              <c:f>Sheet1!$D$1</c:f>
              <c:strCache>
                <c:ptCount val="1"/>
                <c:pt idx="0">
                  <c:v>PAT ($Mn)</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Sheet1!$D$2:$D$7</c:f>
              <c:numCache>
                <c:formatCode>General</c:formatCode>
                <c:ptCount val="6"/>
                <c:pt idx="0">
                  <c:v>5.2</c:v>
                </c:pt>
                <c:pt idx="1">
                  <c:v>7.5</c:v>
                </c:pt>
                <c:pt idx="2">
                  <c:v>8.1</c:v>
                </c:pt>
                <c:pt idx="3">
                  <c:v>11.2</c:v>
                </c:pt>
                <c:pt idx="4">
                  <c:v>13.8</c:v>
                </c:pt>
                <c:pt idx="5">
                  <c:v>16.5</c:v>
                </c:pt>
              </c:numCache>
            </c:numRef>
          </c:val>
          <c:extLst>
            <c:ext xmlns:c16="http://schemas.microsoft.com/office/drawing/2014/chart" uri="{C3380CC4-5D6E-409C-BE32-E72D297353CC}">
              <c16:uniqueId val="{00000002-756E-EF4B-B1E4-86C21E913D15}"/>
            </c:ext>
          </c:extLst>
        </c:ser>
        <c:dLbls>
          <c:dLblPos val="outEnd"/>
          <c:showLegendKey val="0"/>
          <c:showVal val="1"/>
          <c:showCatName val="0"/>
          <c:showSerName val="0"/>
          <c:showPercent val="0"/>
          <c:showBubbleSize val="0"/>
        </c:dLbls>
        <c:gapWidth val="219"/>
        <c:overlap val="-27"/>
        <c:axId val="1922955264"/>
        <c:axId val="1922556224"/>
      </c:barChart>
      <c:catAx>
        <c:axId val="1922955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556224"/>
        <c:crosses val="autoZero"/>
        <c:auto val="1"/>
        <c:lblAlgn val="ctr"/>
        <c:lblOffset val="100"/>
        <c:noMultiLvlLbl val="0"/>
      </c:catAx>
      <c:valAx>
        <c:axId val="1922556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9552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0.16221</cdr:x>
      <cdr:y>0.14002</cdr:y>
    </cdr:from>
    <cdr:to>
      <cdr:x>0.83638</cdr:x>
      <cdr:y>0.50894</cdr:y>
    </cdr:to>
    <cdr:cxnSp macro="">
      <cdr:nvCxnSpPr>
        <cdr:cNvPr id="2" name="Straight Arrow Connector 1">
          <a:extLst xmlns:a="http://schemas.openxmlformats.org/drawingml/2006/main">
            <a:ext uri="{FF2B5EF4-FFF2-40B4-BE49-F238E27FC236}">
              <a16:creationId xmlns:a16="http://schemas.microsoft.com/office/drawing/2014/main" id="{9BCC2D45-A574-03BF-D96B-62DE1E6AF605}"/>
            </a:ext>
          </a:extLst>
        </cdr:cNvPr>
        <cdr:cNvCxnSpPr>
          <a:cxnSpLocks xmlns:a="http://schemas.openxmlformats.org/drawingml/2006/main"/>
        </cdr:cNvCxnSpPr>
      </cdr:nvCxnSpPr>
      <cdr:spPr>
        <a:xfrm xmlns:a="http://schemas.openxmlformats.org/drawingml/2006/main" flipV="1">
          <a:off x="962541" y="477114"/>
          <a:ext cx="4000571" cy="1257082"/>
        </a:xfrm>
        <a:prstGeom xmlns:a="http://schemas.openxmlformats.org/drawingml/2006/main" prst="straightConnector1">
          <a:avLst/>
        </a:prstGeom>
        <a:ln xmlns:a="http://schemas.openxmlformats.org/drawingml/2006/main" w="12700">
          <a:solidFill>
            <a:srgbClr val="00206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943C3-1D8C-C64F-AAEC-927ED34783D4}"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33020-E309-544A-B49B-AB168812BF77}" type="slidenum">
              <a:rPr lang="en-US" smtClean="0"/>
              <a:t>‹#›</a:t>
            </a:fld>
            <a:endParaRPr lang="en-US"/>
          </a:p>
        </p:txBody>
      </p:sp>
    </p:spTree>
    <p:extLst>
      <p:ext uri="{BB962C8B-B14F-4D97-AF65-F5344CB8AC3E}">
        <p14:creationId xmlns:p14="http://schemas.microsoft.com/office/powerpoint/2010/main" val="54035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333020-E309-544A-B49B-AB168812BF77}" type="slidenum">
              <a:rPr lang="en-US" smtClean="0"/>
              <a:t>1</a:t>
            </a:fld>
            <a:endParaRPr lang="en-US"/>
          </a:p>
        </p:txBody>
      </p:sp>
    </p:spTree>
    <p:extLst>
      <p:ext uri="{BB962C8B-B14F-4D97-AF65-F5344CB8AC3E}">
        <p14:creationId xmlns:p14="http://schemas.microsoft.com/office/powerpoint/2010/main" val="2556273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9803-0B46-7E92-EBFC-D6CDB488F0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A406E27-9BF7-F971-8939-1EE377D07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FB1819-52B9-2DC0-73F1-9B3D02526A4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BEE757D-42E7-97D2-D2D7-33F017B0D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ECFEA-C7BE-C83B-A266-EFFDE4C01BC4}"/>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87522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DFCE-4081-EA7B-F8B8-CDCE902860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A6F65F1-9D7A-BD5F-FF40-325DDD2136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EADF0F-12D7-1CE0-9FD9-DC9717DDB00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797C21A-BD4B-F0A5-6F12-0AAA8D33D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7773-B51A-487D-380C-08BC1BD2CFF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62461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92DF-187D-1509-2583-FE74FD9F2CA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3ADB5A5-7FA9-BE0D-9579-7A0B505B8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B0A60A-C868-70BC-A13C-D01DA6E90C6F}"/>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9431A0F-2DE0-44C6-8B6E-2B671A62F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FB65F-84C5-1726-BC7E-21966D6EC06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677961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EAFC-9ABB-A1CE-03B7-F5D766F057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A9B2B5F-E1B2-1ED9-6451-6C42CB20EA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45C422-9251-4D30-1D42-D735B0183E2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D799D2-F803-ADF1-1B1A-3B953D423DCD}"/>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D411BF6F-471A-3F23-5F16-313A81F4B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CA1B9-FBD5-E28E-7080-6A03E51F235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01220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E218-1D21-EB65-1AE9-C1FA50E4FD9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7AF39E9-C272-9BAE-346F-5AB7BCAB59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957D9B8-D795-0BC7-151D-2E12748C0C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C408103-F437-3B5C-A575-81DF62C02F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06D3C4-1FF5-BD92-C085-3AC390F1C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86A4A2E-5AF8-E9B3-2D57-515C78067FDC}"/>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8" name="Footer Placeholder 7">
            <a:extLst>
              <a:ext uri="{FF2B5EF4-FFF2-40B4-BE49-F238E27FC236}">
                <a16:creationId xmlns:a16="http://schemas.microsoft.com/office/drawing/2014/main" id="{3432955F-C63C-6304-4779-A56A6DC420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0766E1-10D5-4E3C-213F-A4055DCE49D1}"/>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380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4D595-5540-60CE-498D-E777C47187C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9C8133-5A44-EBC0-3851-8F92D220A6C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4" name="Footer Placeholder 3">
            <a:extLst>
              <a:ext uri="{FF2B5EF4-FFF2-40B4-BE49-F238E27FC236}">
                <a16:creationId xmlns:a16="http://schemas.microsoft.com/office/drawing/2014/main" id="{DBA4F6BB-3D06-8B1F-BFF3-1F76E6ADF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167BB2-A49F-C933-4294-26205BE36D7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148615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BA7CF-BD70-FB32-3C2C-F9B0B2E3B058}"/>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3" name="Footer Placeholder 2">
            <a:extLst>
              <a:ext uri="{FF2B5EF4-FFF2-40B4-BE49-F238E27FC236}">
                <a16:creationId xmlns:a16="http://schemas.microsoft.com/office/drawing/2014/main" id="{FD9E9117-E777-0ED5-585D-835F3A2D4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AAA2D2-DA51-3206-DEAE-D4CCFD197BF3}"/>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645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E327-FA09-86C2-63CC-C99408F4CB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42BE73-DAA4-7B92-11ED-399A5CE164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3930794-32BD-9767-B429-726EE9623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CD90B8-F361-458B-1545-93941FB5E437}"/>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E006C9D8-5953-2447-23F1-ECFB1A8614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D275F-81B2-2F54-3591-DA8CFBCBF04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7269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55994-6358-20B6-C20F-0856962FF0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5B6E1A7-C40C-CFB3-F4F6-F62BFDAC12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32142-16B7-1D24-B9A3-F415900F3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942C89-8CBB-2474-6C29-608EA75FD16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2C4CD6BD-C32E-FF93-945D-2FE19D18F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4B5A2-0E00-84E3-AED5-F33BA7F98452}"/>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968017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DA90-973B-D972-8C22-80404611DC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F4A3B5-8758-0923-1FE6-483BD56832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4AC690-7116-CFFD-BF43-CF2DF85E620A}"/>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0B7FE937-7F6A-54BE-6412-9F4845B2A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9EDF4-17D6-28D6-7A3C-10DA6E2C2E6B}"/>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19852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9E4A2E-7080-814E-5347-BEAE14967AB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66BF7C-E151-1928-CFAF-B3F129C66C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2DBEE8-CD4A-4D9D-453A-29C1AABBF705}"/>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70A94D8A-309D-6B47-C628-C133D5BAC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B27C8C-D2A7-85FE-FEE5-96D1B912BE49}"/>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37754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034CB-E301-E59F-ACEF-6EAFA45EEF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1915E4-4F8E-97F0-D914-89B1E6FE8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443510-7F7A-59D2-6265-E0BDA7039A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58A2B865-4147-58AE-803A-C687E9F1E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0DF22-3DE8-A614-AD1B-8DF7CB35E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15B5EB-95B9-7A4F-934F-C4166BD2499B}" type="slidenum">
              <a:rPr lang="en-US" smtClean="0"/>
              <a:t>‹#›</a:t>
            </a:fld>
            <a:endParaRPr lang="en-US"/>
          </a:p>
        </p:txBody>
      </p:sp>
    </p:spTree>
    <p:extLst>
      <p:ext uri="{BB962C8B-B14F-4D97-AF65-F5344CB8AC3E}">
        <p14:creationId xmlns:p14="http://schemas.microsoft.com/office/powerpoint/2010/main" val="1334668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svg"/><Relationship Id="rId19" Type="http://schemas.openxmlformats.org/officeDocument/2006/relationships/image" Target="../media/image20.png"/><Relationship Id="rId20" Type="http://schemas.openxmlformats.org/officeDocument/2006/relationships/image" Target="../media/image21.svg"/><Relationship Id="rId21" Type="http://schemas.openxmlformats.org/officeDocument/2006/relationships/image" Target="../media/image22.png"/><Relationship Id="rId22" Type="http://schemas.openxmlformats.org/officeDocument/2006/relationships/image" Target="../media/image23.svg"/><Relationship Id="rId23" Type="http://schemas.openxmlformats.org/officeDocument/2006/relationships/image" Target="../media/image24.png"/><Relationship Id="rId24" Type="http://schemas.openxmlformats.org/officeDocument/2006/relationships/image" Target="../media/image25.svg"/><Relationship Id="rId25" Type="http://schemas.openxmlformats.org/officeDocument/2006/relationships/image" Target="../media/image26.png"/><Relationship Id="rId26" Type="http://schemas.openxmlformats.org/officeDocument/2006/relationships/image" Target="../media/image27.svg"/><Relationship Id="rId27" Type="http://schemas.openxmlformats.org/officeDocument/2006/relationships/image" Target="../media/image28.png"/><Relationship Id="rId28" Type="http://schemas.openxmlformats.org/officeDocument/2006/relationships/image" Target="../media/image29.svg"/><Relationship Id="rId29" Type="http://schemas.openxmlformats.org/officeDocument/2006/relationships/image" Target="../media/image30.png"/><Relationship Id="rId30" Type="http://schemas.openxmlformats.org/officeDocument/2006/relationships/image" Target="../media/image31.png"/><Relationship Id="rId31" Type="http://schemas.openxmlformats.org/officeDocument/2006/relationships/image" Target="../media/image32.png"/><Relationship Id="rId3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slideLayout" Target="../slideLayouts/slideLayout2.xml"/><Relationship Id="rId5" Type="http://schemas.openxmlformats.org/officeDocument/2006/relationships/chart" Target="../charts/chart1.xml"/><Relationship Id="rId6" Type="http://schemas.openxmlformats.org/officeDocument/2006/relationships/image" Target="../media/image33.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image" Target="../media/image36.svg"/><Relationship Id="rId5" Type="http://schemas.openxmlformats.org/officeDocument/2006/relationships/image" Target="../media/image37.png"/><Relationship Id="rId6" Type="http://schemas.openxmlformats.org/officeDocument/2006/relationships/image" Target="../media/image38.svg"/><Relationship Id="rId7" Type="http://schemas.openxmlformats.org/officeDocument/2006/relationships/image" Target="../media/image39.png"/><Relationship Id="rId8" Type="http://schemas.openxmlformats.org/officeDocument/2006/relationships/image" Target="../media/image40.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3.png"/><Relationship Id="rId12" Type="http://schemas.openxmlformats.org/officeDocument/2006/relationships/image" Target="../media/image44.svg"/><Relationship Id="rId1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urple and pink background&#10;&#10;AI-generated content may be incorrect.">
            <a:extLst>
              <a:ext uri="{FF2B5EF4-FFF2-40B4-BE49-F238E27FC236}">
                <a16:creationId xmlns:a16="http://schemas.microsoft.com/office/drawing/2014/main" id="{020973BE-7EEA-3C23-BBB7-E4E7D6D31506}"/>
              </a:ext>
            </a:extLst>
          </p:cNvPr>
          <p:cNvPicPr>
            <a:picLocks noChangeAspect="1"/>
          </p:cNvPicPr>
          <p:nvPr/>
        </p:nvPicPr>
        <p:blipFill>
          <a:blip r:embed="rId3"/>
          <a:stretch>
            <a:fillRect/>
          </a:stretch>
        </p:blipFill>
        <p:spPr>
          <a:xfrm>
            <a:off x="967298" y="0"/>
            <a:ext cx="11224701" cy="6858000"/>
          </a:xfrm>
          <a:prstGeom prst="rect">
            <a:avLst/>
          </a:prstGeom>
        </p:spPr>
      </p:pic>
      <p:sp>
        <p:nvSpPr>
          <p:cNvPr id="4" name="Rectangle 3">
            <a:extLst>
              <a:ext uri="{FF2B5EF4-FFF2-40B4-BE49-F238E27FC236}">
                <a16:creationId xmlns:a16="http://schemas.microsoft.com/office/drawing/2014/main" id="{B7EBFA4E-A3B5-7D99-8BA6-2FA0EE6D5968}"/>
              </a:ext>
            </a:extLst>
          </p:cNvPr>
          <p:cNvSpPr/>
          <p:nvPr/>
        </p:nvSpPr>
        <p:spPr>
          <a:xfrm>
            <a:off x="0" y="0"/>
            <a:ext cx="967299"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FF"/>
              </a:highlight>
            </a:endParaRPr>
          </a:p>
        </p:txBody>
      </p:sp>
      <p:sp>
        <p:nvSpPr>
          <p:cNvPr id="6" name="Title 3">
            <a:extLst>
              <a:ext uri="{FF2B5EF4-FFF2-40B4-BE49-F238E27FC236}">
                <a16:creationId xmlns:a16="http://schemas.microsoft.com/office/drawing/2014/main" id="{E2CA0644-DD32-1874-84E2-0BCF5477DB97}"/>
              </a:ext>
            </a:extLst>
          </p:cNvPr>
          <p:cNvSpPr txBox="1">
            <a:spLocks/>
          </p:cNvSpPr>
          <p:nvPr/>
        </p:nvSpPr>
        <p:spPr>
          <a:xfrm>
            <a:off x="1791778" y="872790"/>
            <a:ext cx="7725677" cy="1925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6000" b="1" dirty="0">
                <a:solidFill>
                  <a:schemeClr val="bg1"/>
                </a:solidFill>
              </a:rPr>
              <a:t>Project Apex</a:t>
            </a:r>
            <a:endParaRPr lang="en-US" sz="6000" dirty="0">
              <a:solidFill>
                <a:schemeClr val="bg1"/>
              </a:solidFill>
            </a:endParaRPr>
          </a:p>
        </p:txBody>
      </p:sp>
      <p:sp>
        <p:nvSpPr>
          <p:cNvPr id="7" name="Subtitle 4">
            <a:extLst>
              <a:ext uri="{FF2B5EF4-FFF2-40B4-BE49-F238E27FC236}">
                <a16:creationId xmlns:a16="http://schemas.microsoft.com/office/drawing/2014/main" id="{86D52083-BF01-1FE9-0B74-41A6AF06A549}"/>
              </a:ext>
            </a:extLst>
          </p:cNvPr>
          <p:cNvSpPr txBox="1">
            <a:spLocks/>
          </p:cNvSpPr>
          <p:nvPr/>
        </p:nvSpPr>
        <p:spPr>
          <a:xfrm>
            <a:off x="1372229" y="3932458"/>
            <a:ext cx="6676800" cy="108813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latin typeface="Univers for KPMG" panose="020B0603020202020204" pitchFamily="34" charset="0"/>
            </a:endParaRPr>
          </a:p>
        </p:txBody>
      </p:sp>
      <p:sp>
        <p:nvSpPr>
          <p:cNvPr id="8" name="TextBox 7">
            <a:extLst>
              <a:ext uri="{FF2B5EF4-FFF2-40B4-BE49-F238E27FC236}">
                <a16:creationId xmlns:a16="http://schemas.microsoft.com/office/drawing/2014/main" id="{585CCCCE-E0BB-A7EA-F031-61E4B4513B81}"/>
              </a:ext>
            </a:extLst>
          </p:cNvPr>
          <p:cNvSpPr txBox="1"/>
          <p:nvPr/>
        </p:nvSpPr>
        <p:spPr>
          <a:xfrm>
            <a:off x="1791778" y="4985053"/>
            <a:ext cx="4098664" cy="738664"/>
          </a:xfrm>
          <a:prstGeom prst="rect">
            <a:avLst/>
          </a:prstGeom>
          <a:noFill/>
        </p:spPr>
        <p:txBody>
          <a:bodyPr wrap="square" rtlCol="0">
            <a:spAutoFit/>
          </a:bodyPr>
          <a:lstStyle/>
          <a:p>
            <a:r>
              <a:rPr lang="en-US" sz="2400" b="1" dirty="0">
                <a:solidFill>
                  <a:schemeClr val="bg1"/>
                </a:solidFill>
              </a:rPr>
              <a:t>Investment Brief</a:t>
            </a:r>
          </a:p>
          <a:p>
            <a:r>
              <a:rPr lang="en-US" i="1" dirty="0" err="1">
                <a:solidFill>
                  <a:schemeClr val="bg1"/>
                </a:solidFill>
              </a:rPr>
              <a:t>kelpglobal.com</a:t>
            </a:r>
            <a:endParaRPr lang="en-US" i="1" dirty="0">
              <a:solidFill>
                <a:schemeClr val="bg1"/>
              </a:solidFill>
            </a:endParaRPr>
          </a:p>
        </p:txBody>
      </p:sp>
      <p:pic>
        <p:nvPicPr>
          <p:cNvPr id="14" name="Picture 13" descr="A white letter on a black background&#10;&#10;AI-generated content may be incorrect.">
            <a:extLst>
              <a:ext uri="{FF2B5EF4-FFF2-40B4-BE49-F238E27FC236}">
                <a16:creationId xmlns:a16="http://schemas.microsoft.com/office/drawing/2014/main" id="{921B6793-B8F1-9D08-0FCF-91604626DC4D}"/>
              </a:ext>
            </a:extLst>
          </p:cNvPr>
          <p:cNvPicPr>
            <a:picLocks noChangeAspect="1"/>
          </p:cNvPicPr>
          <p:nvPr/>
        </p:nvPicPr>
        <p:blipFill>
          <a:blip r:embed="rId4"/>
          <a:stretch>
            <a:fillRect/>
          </a:stretch>
        </p:blipFill>
        <p:spPr>
          <a:xfrm>
            <a:off x="1929237" y="509436"/>
            <a:ext cx="1911873" cy="726707"/>
          </a:xfrm>
          <a:prstGeom prst="rect">
            <a:avLst/>
          </a:prstGeom>
        </p:spPr>
      </p:pic>
    </p:spTree>
    <p:extLst>
      <p:ext uri="{BB962C8B-B14F-4D97-AF65-F5344CB8AC3E}">
        <p14:creationId xmlns:p14="http://schemas.microsoft.com/office/powerpoint/2010/main" val="318734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2EEF50-6BEB-D67B-53A5-9D978D4EFB24}"/>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Business Overview</a:t>
            </a:r>
            <a:endParaRPr sz="2000" b="1" dirty="0">
              <a:solidFill>
                <a:srgbClr val="FFFFFF"/>
              </a:solidFill>
              <a:latin typeface="Arial"/>
            </a:endParaRPr>
          </a:p>
        </p:txBody>
      </p:sp>
      <p:sp>
        <p:nvSpPr>
          <p:cNvPr id="59" name="Rectangle 58">
            <a:extLst>
              <a:ext uri="{FF2B5EF4-FFF2-40B4-BE49-F238E27FC236}">
                <a16:creationId xmlns:a16="http://schemas.microsoft.com/office/drawing/2014/main" id="{61BD4773-27DA-F400-3E63-3BE0F35D3FD5}"/>
              </a:ext>
            </a:extLst>
          </p:cNvPr>
          <p:cNvSpPr/>
          <p:nvPr/>
        </p:nvSpPr>
        <p:spPr>
          <a:xfrm>
            <a:off x="362526" y="1261925"/>
            <a:ext cx="5907691" cy="24388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0" name="Rectangle 59">
            <a:extLst>
              <a:ext uri="{FF2B5EF4-FFF2-40B4-BE49-F238E27FC236}">
                <a16:creationId xmlns:a16="http://schemas.microsoft.com/office/drawing/2014/main" id="{9F8E6BA0-77C4-1C2E-53BC-19A2BE5D6942}"/>
              </a:ext>
            </a:extLst>
          </p:cNvPr>
          <p:cNvSpPr/>
          <p:nvPr/>
        </p:nvSpPr>
        <p:spPr>
          <a:xfrm>
            <a:off x="42742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Product Portfolio</a:t>
            </a:r>
          </a:p>
        </p:txBody>
      </p:sp>
      <p:sp>
        <p:nvSpPr>
          <p:cNvPr id="61" name="Rectangle 60">
            <a:extLst>
              <a:ext uri="{FF2B5EF4-FFF2-40B4-BE49-F238E27FC236}">
                <a16:creationId xmlns:a16="http://schemas.microsoft.com/office/drawing/2014/main" id="{D5607953-684A-6B12-884B-E12A2B11AC87}"/>
              </a:ext>
            </a:extLst>
          </p:cNvPr>
          <p:cNvSpPr/>
          <p:nvPr/>
        </p:nvSpPr>
        <p:spPr>
          <a:xfrm>
            <a:off x="446191" y="3866232"/>
            <a:ext cx="8424000" cy="274320"/>
          </a:xfrm>
          <a:prstGeom prst="rect">
            <a:avLst/>
          </a:prstGeom>
          <a:solidFill>
            <a:schemeClr val="accent4">
              <a:lumMod val="75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Growth led through its growing product portfolio and offering solutions to diverse sectors</a:t>
            </a:r>
          </a:p>
        </p:txBody>
      </p:sp>
      <p:sp>
        <p:nvSpPr>
          <p:cNvPr id="62" name="Rectangle 61">
            <a:extLst>
              <a:ext uri="{FF2B5EF4-FFF2-40B4-BE49-F238E27FC236}">
                <a16:creationId xmlns:a16="http://schemas.microsoft.com/office/drawing/2014/main" id="{32384D3B-3C7E-8E2F-6D64-F1A622F5B99E}"/>
              </a:ext>
            </a:extLst>
          </p:cNvPr>
          <p:cNvSpPr/>
          <p:nvPr/>
        </p:nvSpPr>
        <p:spPr>
          <a:xfrm>
            <a:off x="342091" y="782231"/>
            <a:ext cx="5907691" cy="27401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Business Overview:</a:t>
            </a:r>
          </a:p>
        </p:txBody>
      </p:sp>
      <p:sp>
        <p:nvSpPr>
          <p:cNvPr id="63" name="Rectangle 62">
            <a:extLst>
              <a:ext uri="{FF2B5EF4-FFF2-40B4-BE49-F238E27FC236}">
                <a16:creationId xmlns:a16="http://schemas.microsoft.com/office/drawing/2014/main" id="{178F974D-BBB8-2A7A-81FC-FA1B38C10966}"/>
              </a:ext>
            </a:extLst>
          </p:cNvPr>
          <p:cNvSpPr/>
          <p:nvPr/>
        </p:nvSpPr>
        <p:spPr>
          <a:xfrm>
            <a:off x="342091" y="1195467"/>
            <a:ext cx="5942490" cy="251805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54610" rtlCol="0" anchor="ctr" anchorCtr="0"/>
          <a:lstStyle/>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Established in 2001, Apex is a </a:t>
            </a:r>
            <a:r>
              <a:rPr lang="en-IN" sz="1100" b="1" dirty="0">
                <a:solidFill>
                  <a:schemeClr val="tx1"/>
                </a:solidFill>
              </a:rPr>
              <a:t>leading manufacturer of natural hydrocolloids and stabilizers</a:t>
            </a:r>
            <a:r>
              <a:rPr lang="en-IN" sz="1100" dirty="0">
                <a:solidFill>
                  <a:schemeClr val="tx1"/>
                </a:solidFill>
              </a:rPr>
              <a:t>, specializing in high-viscosity agents derived from Guar, Cassia, and Tamarind seeds.</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2 state-of-the-art processing units in </a:t>
            </a:r>
            <a:r>
              <a:rPr lang="en-IN" sz="1100" b="1" dirty="0">
                <a:solidFill>
                  <a:schemeClr val="tx1"/>
                </a:solidFill>
              </a:rPr>
              <a:t>Western and Central India</a:t>
            </a:r>
            <a:r>
              <a:rPr lang="en-IN" sz="1100" dirty="0">
                <a:solidFill>
                  <a:schemeClr val="tx1"/>
                </a:solidFill>
              </a:rPr>
              <a:t> with a combined processing capacity of </a:t>
            </a:r>
            <a:r>
              <a:rPr lang="en-IN" sz="1100" b="1" dirty="0">
                <a:solidFill>
                  <a:schemeClr val="tx1"/>
                </a:solidFill>
              </a:rPr>
              <a:t>~18,000 MTPA</a:t>
            </a:r>
            <a:r>
              <a:rPr lang="en-IN" sz="1100" dirty="0">
                <a:solidFill>
                  <a:schemeClr val="tx1"/>
                </a:solidFill>
              </a:rPr>
              <a:t> and a new specialized derivative plant under construction (expected live in FY26).</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Robust export-oriented model with established distribution hubs in the </a:t>
            </a:r>
            <a:r>
              <a:rPr lang="en-IN" sz="1100" b="1" dirty="0">
                <a:solidFill>
                  <a:schemeClr val="tx1"/>
                </a:solidFill>
              </a:rPr>
              <a:t>Netherlands, USA, and Singapore</a:t>
            </a:r>
            <a:r>
              <a:rPr lang="en-IN" sz="1100" dirty="0">
                <a:solidFill>
                  <a:schemeClr val="tx1"/>
                </a:solidFill>
              </a:rPr>
              <a:t> to serve Western markets</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sticky vendor relationships with global FMCG giants and Oil &amp; Gas majors, ensuring consistent offtake.</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Led by second-generation technocrats with deep expertise in polymer chemistry and backed by a reputed family office.</a:t>
            </a:r>
            <a:endParaRPr kumimoji="0" lang="en-US" sz="1100" b="1" i="0" u="none" strike="noStrike" kern="1200" cap="none" spc="0" normalizeH="0" baseline="0" noProof="0" dirty="0">
              <a:ln>
                <a:noFill/>
              </a:ln>
              <a:solidFill>
                <a:schemeClr val="tx1"/>
              </a:solidFill>
              <a:effectLst/>
              <a:uLnTx/>
              <a:uFillTx/>
              <a:latin typeface="Univers for KPMG"/>
              <a:ea typeface="+mn-ea"/>
              <a:cs typeface="Times New Roman"/>
            </a:endParaRPr>
          </a:p>
        </p:txBody>
      </p:sp>
      <p:sp>
        <p:nvSpPr>
          <p:cNvPr id="64" name="Rectangle 63">
            <a:extLst>
              <a:ext uri="{FF2B5EF4-FFF2-40B4-BE49-F238E27FC236}">
                <a16:creationId xmlns:a16="http://schemas.microsoft.com/office/drawing/2014/main" id="{2F00D401-8165-E90D-A329-AB97A8129E57}"/>
              </a:ext>
            </a:extLst>
          </p:cNvPr>
          <p:cNvSpPr/>
          <p:nvPr/>
        </p:nvSpPr>
        <p:spPr>
          <a:xfrm>
            <a:off x="9341290" y="1086262"/>
            <a:ext cx="2324848" cy="2780390"/>
          </a:xfrm>
          <a:prstGeom prst="rect">
            <a:avLst/>
          </a:prstGeom>
          <a:solidFill>
            <a:schemeClr val="bg1">
              <a:lumMod val="9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grpSp>
        <p:nvGrpSpPr>
          <p:cNvPr id="65" name="Group 64">
            <a:extLst>
              <a:ext uri="{FF2B5EF4-FFF2-40B4-BE49-F238E27FC236}">
                <a16:creationId xmlns:a16="http://schemas.microsoft.com/office/drawing/2014/main" id="{7FA482AE-6B80-5ABC-F062-516FAB95B63E}"/>
              </a:ext>
            </a:extLst>
          </p:cNvPr>
          <p:cNvGrpSpPr/>
          <p:nvPr/>
        </p:nvGrpSpPr>
        <p:grpSpPr>
          <a:xfrm>
            <a:off x="9596365" y="1109693"/>
            <a:ext cx="1814698" cy="713211"/>
            <a:chOff x="9621651" y="1231851"/>
            <a:chExt cx="1680342" cy="713211"/>
          </a:xfrm>
        </p:grpSpPr>
        <p:sp>
          <p:nvSpPr>
            <p:cNvPr id="66" name="Rectangle 65">
              <a:extLst>
                <a:ext uri="{FF2B5EF4-FFF2-40B4-BE49-F238E27FC236}">
                  <a16:creationId xmlns:a16="http://schemas.microsoft.com/office/drawing/2014/main" id="{B4154D39-E74E-A6A1-1C7C-A239F55A2FE0}"/>
                </a:ext>
              </a:extLst>
            </p:cNvPr>
            <p:cNvSpPr/>
            <p:nvPr/>
          </p:nvSpPr>
          <p:spPr>
            <a:xfrm>
              <a:off x="9668529" y="1288920"/>
              <a:ext cx="1633464" cy="656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2 Facilities</a:t>
              </a:r>
            </a:p>
            <a:p>
              <a:pPr lvl="0">
                <a:lnSpc>
                  <a:spcPct val="70000"/>
                </a:lnSpc>
                <a:defRPr/>
              </a:pPr>
              <a:r>
                <a:rPr lang="en-IN" sz="1200" dirty="0">
                  <a:solidFill>
                    <a:schemeClr val="tx1"/>
                  </a:solidFill>
                </a:rPr>
                <a:t>Located near raw material belts + 1 upcoming</a:t>
              </a:r>
              <a:endParaRPr kumimoji="0" lang="en-GB" sz="2000" b="1" i="0" u="none" strike="noStrike" kern="1200" cap="none" spc="0" normalizeH="0" baseline="0" noProof="0" dirty="0">
                <a:ln>
                  <a:noFill/>
                </a:ln>
                <a:solidFill>
                  <a:srgbClr val="00338D"/>
                </a:solidFill>
                <a:effectLst/>
                <a:uLnTx/>
                <a:uFillTx/>
                <a:latin typeface="KPMG Extralight"/>
                <a:ea typeface="+mn-ea"/>
                <a:cs typeface="+mn-cs"/>
              </a:endParaRPr>
            </a:p>
          </p:txBody>
        </p:sp>
        <p:pic>
          <p:nvPicPr>
            <p:cNvPr id="67" name="Graphic 66" descr="Factory with solid fill">
              <a:extLst>
                <a:ext uri="{FF2B5EF4-FFF2-40B4-BE49-F238E27FC236}">
                  <a16:creationId xmlns:a16="http://schemas.microsoft.com/office/drawing/2014/main" id="{685B6089-6683-6E9A-A299-3BDF137CF0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21651" y="1231851"/>
              <a:ext cx="457200" cy="457200"/>
            </a:xfrm>
            <a:prstGeom prst="rect">
              <a:avLst/>
            </a:prstGeom>
          </p:spPr>
        </p:pic>
      </p:grpSp>
      <p:grpSp>
        <p:nvGrpSpPr>
          <p:cNvPr id="68" name="Group 67">
            <a:extLst>
              <a:ext uri="{FF2B5EF4-FFF2-40B4-BE49-F238E27FC236}">
                <a16:creationId xmlns:a16="http://schemas.microsoft.com/office/drawing/2014/main" id="{F9D9852B-7712-EEB2-84FD-42DC614BE116}"/>
              </a:ext>
            </a:extLst>
          </p:cNvPr>
          <p:cNvGrpSpPr/>
          <p:nvPr/>
        </p:nvGrpSpPr>
        <p:grpSpPr>
          <a:xfrm>
            <a:off x="9491413" y="3020707"/>
            <a:ext cx="2024602" cy="785886"/>
            <a:chOff x="9404979" y="2213240"/>
            <a:chExt cx="2024602" cy="785886"/>
          </a:xfrm>
        </p:grpSpPr>
        <p:sp>
          <p:nvSpPr>
            <p:cNvPr id="69" name="Rectangle 68">
              <a:extLst>
                <a:ext uri="{FF2B5EF4-FFF2-40B4-BE49-F238E27FC236}">
                  <a16:creationId xmlns:a16="http://schemas.microsoft.com/office/drawing/2014/main" id="{6804BB64-9C33-2E06-C45A-2AD8D931801D}"/>
                </a:ext>
              </a:extLst>
            </p:cNvPr>
            <p:cNvSpPr/>
            <p:nvPr/>
          </p:nvSpPr>
          <p:spPr>
            <a:xfrm>
              <a:off x="9452629" y="2213718"/>
              <a:ext cx="1976952"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R&amp;D Offerings</a:t>
              </a:r>
            </a:p>
            <a:p>
              <a:pPr lvl="0" algn="just">
                <a:lnSpc>
                  <a:spcPct val="110000"/>
                </a:lnSpc>
                <a:spcAft>
                  <a:spcPts val="600"/>
                </a:spcAft>
                <a:defRPr/>
              </a:pPr>
              <a:r>
                <a:rPr lang="en-IN" sz="1200" dirty="0">
                  <a:solidFill>
                    <a:schemeClr val="tx1"/>
                  </a:solidFill>
                </a:rPr>
                <a:t>In-house applications lab for food texture analysis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0" name="Graphic 69" descr="Target Audience with solid fill">
              <a:extLst>
                <a:ext uri="{FF2B5EF4-FFF2-40B4-BE49-F238E27FC236}">
                  <a16:creationId xmlns:a16="http://schemas.microsoft.com/office/drawing/2014/main" id="{E678D7E8-B290-A019-B4C5-3B410EE5C5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04979" y="2213240"/>
              <a:ext cx="457200" cy="457200"/>
            </a:xfrm>
            <a:prstGeom prst="rect">
              <a:avLst/>
            </a:prstGeom>
          </p:spPr>
        </p:pic>
      </p:grpSp>
      <p:sp>
        <p:nvSpPr>
          <p:cNvPr id="71" name="Rectangle 70">
            <a:extLst>
              <a:ext uri="{FF2B5EF4-FFF2-40B4-BE49-F238E27FC236}">
                <a16:creationId xmlns:a16="http://schemas.microsoft.com/office/drawing/2014/main" id="{8FBCA65F-F2AA-9BD2-4FCF-E9E7E7B9220A}"/>
              </a:ext>
            </a:extLst>
          </p:cNvPr>
          <p:cNvSpPr/>
          <p:nvPr/>
        </p:nvSpPr>
        <p:spPr>
          <a:xfrm>
            <a:off x="6583366" y="795658"/>
            <a:ext cx="2301800" cy="2539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Key Select Customers</a:t>
            </a:r>
          </a:p>
        </p:txBody>
      </p:sp>
      <p:sp>
        <p:nvSpPr>
          <p:cNvPr id="72" name="Rectangle 71">
            <a:extLst>
              <a:ext uri="{FF2B5EF4-FFF2-40B4-BE49-F238E27FC236}">
                <a16:creationId xmlns:a16="http://schemas.microsoft.com/office/drawing/2014/main" id="{D0CBEFEC-6A48-B223-2BE9-BE8B8BC6A875}"/>
              </a:ext>
            </a:extLst>
          </p:cNvPr>
          <p:cNvSpPr/>
          <p:nvPr/>
        </p:nvSpPr>
        <p:spPr>
          <a:xfrm>
            <a:off x="9379790" y="795354"/>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Gamma at a glance</a:t>
            </a:r>
          </a:p>
        </p:txBody>
      </p:sp>
      <p:grpSp>
        <p:nvGrpSpPr>
          <p:cNvPr id="73" name="Group 72">
            <a:extLst>
              <a:ext uri="{FF2B5EF4-FFF2-40B4-BE49-F238E27FC236}">
                <a16:creationId xmlns:a16="http://schemas.microsoft.com/office/drawing/2014/main" id="{BBCA6F09-E66D-4FB5-3F53-E54C1C616889}"/>
              </a:ext>
            </a:extLst>
          </p:cNvPr>
          <p:cNvGrpSpPr/>
          <p:nvPr/>
        </p:nvGrpSpPr>
        <p:grpSpPr>
          <a:xfrm>
            <a:off x="9598508" y="2045139"/>
            <a:ext cx="1810412" cy="866505"/>
            <a:chOff x="9192987" y="2321152"/>
            <a:chExt cx="1810412" cy="866505"/>
          </a:xfrm>
        </p:grpSpPr>
        <p:sp>
          <p:nvSpPr>
            <p:cNvPr id="74" name="Rectangle 73">
              <a:extLst>
                <a:ext uri="{FF2B5EF4-FFF2-40B4-BE49-F238E27FC236}">
                  <a16:creationId xmlns:a16="http://schemas.microsoft.com/office/drawing/2014/main" id="{36DEDCF9-CF61-CB85-8E9A-534C7DA50363}"/>
                </a:ext>
              </a:extLst>
            </p:cNvPr>
            <p:cNvSpPr/>
            <p:nvPr/>
          </p:nvSpPr>
          <p:spPr>
            <a:xfrm>
              <a:off x="9235578" y="2402249"/>
              <a:ext cx="1767821"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lang="en-GB" sz="2000" b="1" dirty="0">
                  <a:solidFill>
                    <a:srgbClr val="00338D"/>
                  </a:solidFill>
                  <a:latin typeface="KPMG Extralight"/>
                </a:rPr>
                <a:t>55</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 Grades</a:t>
              </a:r>
            </a:p>
            <a:p>
              <a:pPr lvl="0" algn="just">
                <a:lnSpc>
                  <a:spcPct val="110000"/>
                </a:lnSpc>
                <a:spcAft>
                  <a:spcPts val="600"/>
                </a:spcAft>
                <a:defRPr/>
              </a:pPr>
              <a:r>
                <a:rPr lang="en-IN" sz="1200" dirty="0">
                  <a:solidFill>
                    <a:schemeClr val="tx1"/>
                  </a:solidFill>
                </a:rPr>
                <a:t>Customized viscosity &amp; hydration profiles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5" name="Graphic 74" descr="Search Inventory with solid fill">
              <a:extLst>
                <a:ext uri="{FF2B5EF4-FFF2-40B4-BE49-F238E27FC236}">
                  <a16:creationId xmlns:a16="http://schemas.microsoft.com/office/drawing/2014/main" id="{F79DCC14-31BE-4BD3-4C7F-1D19D720B19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2987" y="2321152"/>
              <a:ext cx="457200" cy="457200"/>
            </a:xfrm>
            <a:prstGeom prst="rect">
              <a:avLst/>
            </a:prstGeom>
          </p:spPr>
        </p:pic>
      </p:grpSp>
      <p:sp>
        <p:nvSpPr>
          <p:cNvPr id="76" name="Rectangle 75">
            <a:extLst>
              <a:ext uri="{FF2B5EF4-FFF2-40B4-BE49-F238E27FC236}">
                <a16:creationId xmlns:a16="http://schemas.microsoft.com/office/drawing/2014/main" id="{3A685988-CC63-480F-4C88-BE0744A13F5B}"/>
              </a:ext>
            </a:extLst>
          </p:cNvPr>
          <p:cNvSpPr/>
          <p:nvPr/>
        </p:nvSpPr>
        <p:spPr>
          <a:xfrm>
            <a:off x="490178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Applications</a:t>
            </a:r>
          </a:p>
        </p:txBody>
      </p:sp>
      <p:sp>
        <p:nvSpPr>
          <p:cNvPr id="80" name="TextBox 79">
            <a:extLst>
              <a:ext uri="{FF2B5EF4-FFF2-40B4-BE49-F238E27FC236}">
                <a16:creationId xmlns:a16="http://schemas.microsoft.com/office/drawing/2014/main" id="{208360C6-7D13-48FD-6F16-2343011B582B}"/>
              </a:ext>
            </a:extLst>
          </p:cNvPr>
          <p:cNvSpPr txBox="1"/>
          <p:nvPr/>
        </p:nvSpPr>
        <p:spPr>
          <a:xfrm>
            <a:off x="7771359" y="3401151"/>
            <a:ext cx="13885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Univers for KPMG"/>
                <a:ea typeface="+mn-ea"/>
                <a:cs typeface="Times New Roman"/>
              </a:rPr>
              <a:t>…and others</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81" name="Rectangle: Rounded Corners 9">
            <a:extLst>
              <a:ext uri="{FF2B5EF4-FFF2-40B4-BE49-F238E27FC236}">
                <a16:creationId xmlns:a16="http://schemas.microsoft.com/office/drawing/2014/main" id="{2C3D064A-FD88-F4E0-4D72-0A4676643CAF}"/>
              </a:ext>
            </a:extLst>
          </p:cNvPr>
          <p:cNvSpPr/>
          <p:nvPr/>
        </p:nvSpPr>
        <p:spPr>
          <a:xfrm>
            <a:off x="865559"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Food Grade Guar Gum</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2" name="Rectangle: Rounded Corners 10">
            <a:extLst>
              <a:ext uri="{FF2B5EF4-FFF2-40B4-BE49-F238E27FC236}">
                <a16:creationId xmlns:a16="http://schemas.microsoft.com/office/drawing/2014/main" id="{4DEDDE2C-4FA8-FA1A-E257-A1933191E805}"/>
              </a:ext>
            </a:extLst>
          </p:cNvPr>
          <p:cNvSpPr/>
          <p:nvPr/>
        </p:nvSpPr>
        <p:spPr>
          <a:xfrm>
            <a:off x="865559"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Cassia Gum Powder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3" name="Rectangle: Rounded Corners 11">
            <a:extLst>
              <a:ext uri="{FF2B5EF4-FFF2-40B4-BE49-F238E27FC236}">
                <a16:creationId xmlns:a16="http://schemas.microsoft.com/office/drawing/2014/main" id="{83C44FC0-A322-01F3-D983-413914C6DF83}"/>
              </a:ext>
            </a:extLst>
          </p:cNvPr>
          <p:cNvSpPr/>
          <p:nvPr/>
        </p:nvSpPr>
        <p:spPr>
          <a:xfrm>
            <a:off x="865559"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Fast Hydration Derivatives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4" name="Rectangle: Rounded Corners 12">
            <a:extLst>
              <a:ext uri="{FF2B5EF4-FFF2-40B4-BE49-F238E27FC236}">
                <a16:creationId xmlns:a16="http://schemas.microsoft.com/office/drawing/2014/main" id="{0CD7FDFC-1032-5AF5-1EA9-59654C1456C3}"/>
              </a:ext>
            </a:extLst>
          </p:cNvPr>
          <p:cNvSpPr/>
          <p:nvPr/>
        </p:nvSpPr>
        <p:spPr>
          <a:xfrm>
            <a:off x="865559"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Cationic Conditioner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Rectangle: Rounded Corners 13">
            <a:extLst>
              <a:ext uri="{FF2B5EF4-FFF2-40B4-BE49-F238E27FC236}">
                <a16:creationId xmlns:a16="http://schemas.microsoft.com/office/drawing/2014/main" id="{30E752E6-7AF1-7B25-AA57-BFDC53571436}"/>
              </a:ext>
            </a:extLst>
          </p:cNvPr>
          <p:cNvSpPr/>
          <p:nvPr/>
        </p:nvSpPr>
        <p:spPr>
          <a:xfrm>
            <a:off x="2856385"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Industrial Grade Thickeners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6" name="Rectangle: Rounded Corners 14">
            <a:extLst>
              <a:ext uri="{FF2B5EF4-FFF2-40B4-BE49-F238E27FC236}">
                <a16:creationId xmlns:a16="http://schemas.microsoft.com/office/drawing/2014/main" id="{BBF10CC3-609D-F67C-7C77-B075E77C699D}"/>
              </a:ext>
            </a:extLst>
          </p:cNvPr>
          <p:cNvSpPr/>
          <p:nvPr/>
        </p:nvSpPr>
        <p:spPr>
          <a:xfrm>
            <a:off x="2856385"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Tamarind Kernel Powder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7" name="Rectangle: Rounded Corners 15">
            <a:extLst>
              <a:ext uri="{FF2B5EF4-FFF2-40B4-BE49-F238E27FC236}">
                <a16:creationId xmlns:a16="http://schemas.microsoft.com/office/drawing/2014/main" id="{556B6F16-E08F-E280-A605-73BF29E5069B}"/>
              </a:ext>
            </a:extLst>
          </p:cNvPr>
          <p:cNvSpPr/>
          <p:nvPr/>
        </p:nvSpPr>
        <p:spPr>
          <a:xfrm>
            <a:off x="2856385"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Purified Splits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8" name="Rectangle: Rounded Corners 16">
            <a:extLst>
              <a:ext uri="{FF2B5EF4-FFF2-40B4-BE49-F238E27FC236}">
                <a16:creationId xmlns:a16="http://schemas.microsoft.com/office/drawing/2014/main" id="{F57F67C4-B831-5AC8-9CAC-4F1783B237C6}"/>
              </a:ext>
            </a:extLst>
          </p:cNvPr>
          <p:cNvSpPr/>
          <p:nvPr/>
        </p:nvSpPr>
        <p:spPr>
          <a:xfrm>
            <a:off x="2856385"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Blended Stabilizers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89" name="Straight Connector 88">
            <a:extLst>
              <a:ext uri="{FF2B5EF4-FFF2-40B4-BE49-F238E27FC236}">
                <a16:creationId xmlns:a16="http://schemas.microsoft.com/office/drawing/2014/main" id="{86343512-E81B-B83D-19AC-0CB2A2FF03AF}"/>
              </a:ext>
            </a:extLst>
          </p:cNvPr>
          <p:cNvCxnSpPr>
            <a:cxnSpLocks/>
          </p:cNvCxnSpPr>
          <p:nvPr/>
        </p:nvCxnSpPr>
        <p:spPr>
          <a:xfrm>
            <a:off x="9114408" y="921323"/>
            <a:ext cx="0" cy="5428648"/>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20A9849C-E48E-7D1E-799B-230CFF57880B}"/>
              </a:ext>
            </a:extLst>
          </p:cNvPr>
          <p:cNvSpPr/>
          <p:nvPr/>
        </p:nvSpPr>
        <p:spPr>
          <a:xfrm>
            <a:off x="9379790" y="3987419"/>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Certifications</a:t>
            </a:r>
          </a:p>
        </p:txBody>
      </p:sp>
      <p:pic>
        <p:nvPicPr>
          <p:cNvPr id="91" name="Picture 90">
            <a:extLst>
              <a:ext uri="{FF2B5EF4-FFF2-40B4-BE49-F238E27FC236}">
                <a16:creationId xmlns:a16="http://schemas.microsoft.com/office/drawing/2014/main" id="{BA74D8BC-A4B0-4400-761D-98DC5988E9D6}"/>
              </a:ext>
            </a:extLst>
          </p:cNvPr>
          <p:cNvPicPr>
            <a:picLocks noChangeAspect="1"/>
          </p:cNvPicPr>
          <p:nvPr/>
        </p:nvPicPr>
        <p:blipFill rotWithShape="1">
          <a:blip r:embed="rId8"/>
          <a:srcRect l="-1492" t="22841" b="22045"/>
          <a:stretch/>
        </p:blipFill>
        <p:spPr>
          <a:xfrm>
            <a:off x="9124033" y="4357540"/>
            <a:ext cx="914400" cy="503957"/>
          </a:xfrm>
          <a:prstGeom prst="rect">
            <a:avLst/>
          </a:prstGeom>
        </p:spPr>
      </p:pic>
      <p:pic>
        <p:nvPicPr>
          <p:cNvPr id="92" name="Picture 91">
            <a:extLst>
              <a:ext uri="{FF2B5EF4-FFF2-40B4-BE49-F238E27FC236}">
                <a16:creationId xmlns:a16="http://schemas.microsoft.com/office/drawing/2014/main" id="{D5EE55A9-5869-8D02-7CEF-96D142F0CB7C}"/>
              </a:ext>
            </a:extLst>
          </p:cNvPr>
          <p:cNvPicPr>
            <a:picLocks noChangeAspect="1"/>
          </p:cNvPicPr>
          <p:nvPr/>
        </p:nvPicPr>
        <p:blipFill rotWithShape="1">
          <a:blip r:embed="rId9"/>
          <a:srcRect l="9220" t="7861" r="11347" b="10578"/>
          <a:stretch/>
        </p:blipFill>
        <p:spPr>
          <a:xfrm>
            <a:off x="10086560" y="4309413"/>
            <a:ext cx="596767" cy="612752"/>
          </a:xfrm>
          <a:prstGeom prst="rect">
            <a:avLst/>
          </a:prstGeom>
        </p:spPr>
      </p:pic>
      <p:pic>
        <p:nvPicPr>
          <p:cNvPr id="93" name="Picture 92">
            <a:extLst>
              <a:ext uri="{FF2B5EF4-FFF2-40B4-BE49-F238E27FC236}">
                <a16:creationId xmlns:a16="http://schemas.microsoft.com/office/drawing/2014/main" id="{D0861581-A4C1-E6BB-4B2A-9482EDAAEBF8}"/>
              </a:ext>
            </a:extLst>
          </p:cNvPr>
          <p:cNvPicPr>
            <a:picLocks noChangeAspect="1"/>
          </p:cNvPicPr>
          <p:nvPr/>
        </p:nvPicPr>
        <p:blipFill rotWithShape="1">
          <a:blip r:embed="rId10"/>
          <a:srcRect t="26464" b="24194"/>
          <a:stretch/>
        </p:blipFill>
        <p:spPr>
          <a:xfrm>
            <a:off x="10794851" y="4338288"/>
            <a:ext cx="1033883" cy="510140"/>
          </a:xfrm>
          <a:prstGeom prst="rect">
            <a:avLst/>
          </a:prstGeom>
        </p:spPr>
      </p:pic>
      <p:pic>
        <p:nvPicPr>
          <p:cNvPr id="94" name="Picture 93">
            <a:extLst>
              <a:ext uri="{FF2B5EF4-FFF2-40B4-BE49-F238E27FC236}">
                <a16:creationId xmlns:a16="http://schemas.microsoft.com/office/drawing/2014/main" id="{3891A1C9-E1F2-11C0-F7B2-721443E9AC09}"/>
              </a:ext>
            </a:extLst>
          </p:cNvPr>
          <p:cNvPicPr>
            <a:picLocks noChangeAspect="1"/>
          </p:cNvPicPr>
          <p:nvPr/>
        </p:nvPicPr>
        <p:blipFill rotWithShape="1">
          <a:blip r:embed="rId11"/>
          <a:srcRect l="6151" t="34786" r="8191" b="34819"/>
          <a:stretch/>
        </p:blipFill>
        <p:spPr>
          <a:xfrm>
            <a:off x="9980681" y="5127561"/>
            <a:ext cx="1085029" cy="385010"/>
          </a:xfrm>
          <a:prstGeom prst="rect">
            <a:avLst/>
          </a:prstGeom>
        </p:spPr>
      </p:pic>
      <p:pic>
        <p:nvPicPr>
          <p:cNvPr id="95" name="Picture 94">
            <a:extLst>
              <a:ext uri="{FF2B5EF4-FFF2-40B4-BE49-F238E27FC236}">
                <a16:creationId xmlns:a16="http://schemas.microsoft.com/office/drawing/2014/main" id="{4DDDC88A-33ED-7C4E-0871-2B99F1C0B15F}"/>
              </a:ext>
            </a:extLst>
          </p:cNvPr>
          <p:cNvPicPr>
            <a:picLocks noChangeAspect="1"/>
          </p:cNvPicPr>
          <p:nvPr/>
        </p:nvPicPr>
        <p:blipFill rotWithShape="1">
          <a:blip r:embed="rId12"/>
          <a:srcRect l="20000" t="19424" r="23684" b="18553"/>
          <a:stretch/>
        </p:blipFill>
        <p:spPr>
          <a:xfrm>
            <a:off x="9332581" y="5031306"/>
            <a:ext cx="500513" cy="551237"/>
          </a:xfrm>
          <a:prstGeom prst="rect">
            <a:avLst/>
          </a:prstGeom>
        </p:spPr>
      </p:pic>
      <p:pic>
        <p:nvPicPr>
          <p:cNvPr id="96" name="Picture 95">
            <a:extLst>
              <a:ext uri="{FF2B5EF4-FFF2-40B4-BE49-F238E27FC236}">
                <a16:creationId xmlns:a16="http://schemas.microsoft.com/office/drawing/2014/main" id="{BB7429DF-ED38-383C-477F-6432D71DD669}"/>
              </a:ext>
            </a:extLst>
          </p:cNvPr>
          <p:cNvPicPr>
            <a:picLocks noChangeAspect="1"/>
          </p:cNvPicPr>
          <p:nvPr/>
        </p:nvPicPr>
        <p:blipFill rotWithShape="1">
          <a:blip r:embed="rId13"/>
          <a:srcRect l="6218" t="33668" r="6546" b="32780"/>
          <a:stretch/>
        </p:blipFill>
        <p:spPr>
          <a:xfrm>
            <a:off x="9185635" y="5830206"/>
            <a:ext cx="900925" cy="346509"/>
          </a:xfrm>
          <a:prstGeom prst="rect">
            <a:avLst/>
          </a:prstGeom>
        </p:spPr>
      </p:pic>
      <p:pic>
        <p:nvPicPr>
          <p:cNvPr id="97" name="Picture 96">
            <a:extLst>
              <a:ext uri="{FF2B5EF4-FFF2-40B4-BE49-F238E27FC236}">
                <a16:creationId xmlns:a16="http://schemas.microsoft.com/office/drawing/2014/main" id="{8E3C4EFE-474B-394C-8C62-0348910B0D62}"/>
              </a:ext>
            </a:extLst>
          </p:cNvPr>
          <p:cNvPicPr>
            <a:picLocks noChangeAspect="1"/>
          </p:cNvPicPr>
          <p:nvPr/>
        </p:nvPicPr>
        <p:blipFill rotWithShape="1">
          <a:blip r:embed="rId14"/>
          <a:srcRect t="35271" b="30342"/>
          <a:stretch/>
        </p:blipFill>
        <p:spPr>
          <a:xfrm>
            <a:off x="10205272" y="5839830"/>
            <a:ext cx="1026695" cy="353048"/>
          </a:xfrm>
          <a:prstGeom prst="rect">
            <a:avLst/>
          </a:prstGeom>
        </p:spPr>
      </p:pic>
      <p:pic>
        <p:nvPicPr>
          <p:cNvPr id="98" name="Picture 97">
            <a:extLst>
              <a:ext uri="{FF2B5EF4-FFF2-40B4-BE49-F238E27FC236}">
                <a16:creationId xmlns:a16="http://schemas.microsoft.com/office/drawing/2014/main" id="{B7D8E1D4-B34D-6528-0425-8007C140505F}"/>
              </a:ext>
            </a:extLst>
          </p:cNvPr>
          <p:cNvPicPr>
            <a:picLocks noChangeAspect="1"/>
          </p:cNvPicPr>
          <p:nvPr/>
        </p:nvPicPr>
        <p:blipFill rotWithShape="1">
          <a:blip r:embed="rId15"/>
          <a:srcRect l="19842" t="18933" r="20394" b="23202"/>
          <a:stretch/>
        </p:blipFill>
        <p:spPr>
          <a:xfrm>
            <a:off x="11241592" y="5579947"/>
            <a:ext cx="587142" cy="568503"/>
          </a:xfrm>
          <a:prstGeom prst="rect">
            <a:avLst/>
          </a:prstGeom>
        </p:spPr>
      </p:pic>
      <p:pic>
        <p:nvPicPr>
          <p:cNvPr id="99" name="Picture 98">
            <a:extLst>
              <a:ext uri="{FF2B5EF4-FFF2-40B4-BE49-F238E27FC236}">
                <a16:creationId xmlns:a16="http://schemas.microsoft.com/office/drawing/2014/main" id="{238AACBF-A5B2-5378-85FD-790DE1150386}"/>
              </a:ext>
            </a:extLst>
          </p:cNvPr>
          <p:cNvPicPr>
            <a:picLocks noChangeAspect="1"/>
          </p:cNvPicPr>
          <p:nvPr/>
        </p:nvPicPr>
        <p:blipFill rotWithShape="1">
          <a:blip r:embed="rId16"/>
          <a:srcRect l="22798" t="20066" r="24429" b="19984"/>
          <a:stretch/>
        </p:blipFill>
        <p:spPr>
          <a:xfrm>
            <a:off x="11222343" y="4906180"/>
            <a:ext cx="606391" cy="688860"/>
          </a:xfrm>
          <a:prstGeom prst="rect">
            <a:avLst/>
          </a:prstGeom>
        </p:spPr>
      </p:pic>
      <p:pic>
        <p:nvPicPr>
          <p:cNvPr id="100" name="Graphic 99">
            <a:extLst>
              <a:ext uri="{FF2B5EF4-FFF2-40B4-BE49-F238E27FC236}">
                <a16:creationId xmlns:a16="http://schemas.microsoft.com/office/drawing/2014/main" id="{5341C0DD-EB7D-7FD6-9B2C-D4D1A9948C22}"/>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5612124" y="4216422"/>
            <a:ext cx="432000" cy="432000"/>
          </a:xfrm>
          <a:prstGeom prst="rect">
            <a:avLst/>
          </a:prstGeom>
        </p:spPr>
      </p:pic>
      <p:sp>
        <p:nvSpPr>
          <p:cNvPr id="101" name="Rectangle: Rounded Corners 52">
            <a:extLst>
              <a:ext uri="{FF2B5EF4-FFF2-40B4-BE49-F238E27FC236}">
                <a16:creationId xmlns:a16="http://schemas.microsoft.com/office/drawing/2014/main" id="{9375D670-9587-F889-300F-85B0E532F9BE}"/>
              </a:ext>
            </a:extLst>
          </p:cNvPr>
          <p:cNvSpPr/>
          <p:nvPr/>
        </p:nvSpPr>
        <p:spPr>
          <a:xfrm>
            <a:off x="5209403"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Bakery</a:t>
            </a:r>
          </a:p>
        </p:txBody>
      </p:sp>
      <p:pic>
        <p:nvPicPr>
          <p:cNvPr id="103" name="Graphic 102">
            <a:extLst>
              <a:ext uri="{FF2B5EF4-FFF2-40B4-BE49-F238E27FC236}">
                <a16:creationId xmlns:a16="http://schemas.microsoft.com/office/drawing/2014/main" id="{1238698F-AFBF-E6AD-F9BF-F9DE400FB7BF}"/>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6900095" y="5173998"/>
            <a:ext cx="432000" cy="432000"/>
          </a:xfrm>
          <a:prstGeom prst="rect">
            <a:avLst/>
          </a:prstGeom>
        </p:spPr>
      </p:pic>
      <p:pic>
        <p:nvPicPr>
          <p:cNvPr id="104" name="Graphic 103" descr="Perfume Bottle with solid fill">
            <a:extLst>
              <a:ext uri="{FF2B5EF4-FFF2-40B4-BE49-F238E27FC236}">
                <a16:creationId xmlns:a16="http://schemas.microsoft.com/office/drawing/2014/main" id="{FD7C3A5B-4797-ACD9-F982-6BA78AC3401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869771" y="4216422"/>
            <a:ext cx="432000" cy="432000"/>
          </a:xfrm>
          <a:prstGeom prst="rect">
            <a:avLst/>
          </a:prstGeom>
        </p:spPr>
      </p:pic>
      <p:pic>
        <p:nvPicPr>
          <p:cNvPr id="105" name="Graphic 104">
            <a:extLst>
              <a:ext uri="{FF2B5EF4-FFF2-40B4-BE49-F238E27FC236}">
                <a16:creationId xmlns:a16="http://schemas.microsoft.com/office/drawing/2014/main" id="{7E83BAF3-EE77-2F57-D81F-D3E2AA1A3C2F}"/>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8127419" y="4216422"/>
            <a:ext cx="432000" cy="406948"/>
          </a:xfrm>
          <a:prstGeom prst="rect">
            <a:avLst/>
          </a:prstGeom>
        </p:spPr>
      </p:pic>
      <p:sp>
        <p:nvSpPr>
          <p:cNvPr id="106" name="Rectangle: Rounded Corners 1030">
            <a:extLst>
              <a:ext uri="{FF2B5EF4-FFF2-40B4-BE49-F238E27FC236}">
                <a16:creationId xmlns:a16="http://schemas.microsoft.com/office/drawing/2014/main" id="{400E08B6-92C7-09D5-BE1F-C82B126FB5B6}"/>
              </a:ext>
            </a:extLst>
          </p:cNvPr>
          <p:cNvSpPr/>
          <p:nvPr/>
        </p:nvSpPr>
        <p:spPr>
          <a:xfrm>
            <a:off x="6492409"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Cosmetics</a:t>
            </a:r>
          </a:p>
        </p:txBody>
      </p:sp>
      <p:sp>
        <p:nvSpPr>
          <p:cNvPr id="107" name="Rectangle: Rounded Corners 1031">
            <a:extLst>
              <a:ext uri="{FF2B5EF4-FFF2-40B4-BE49-F238E27FC236}">
                <a16:creationId xmlns:a16="http://schemas.microsoft.com/office/drawing/2014/main" id="{C7FA2348-6DF6-1096-75BB-38EDF5915AD3}"/>
              </a:ext>
            </a:extLst>
          </p:cNvPr>
          <p:cNvSpPr/>
          <p:nvPr/>
        </p:nvSpPr>
        <p:spPr>
          <a:xfrm>
            <a:off x="7775416"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Mining</a:t>
            </a:r>
          </a:p>
        </p:txBody>
      </p:sp>
      <p:sp>
        <p:nvSpPr>
          <p:cNvPr id="108" name="Rectangle: Rounded Corners 1032">
            <a:extLst>
              <a:ext uri="{FF2B5EF4-FFF2-40B4-BE49-F238E27FC236}">
                <a16:creationId xmlns:a16="http://schemas.microsoft.com/office/drawing/2014/main" id="{5A2B3561-02C4-19C3-7621-84D65869F913}"/>
              </a:ext>
            </a:extLst>
          </p:cNvPr>
          <p:cNvSpPr/>
          <p:nvPr/>
        </p:nvSpPr>
        <p:spPr>
          <a:xfrm>
            <a:off x="6528992" y="5602705"/>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Oil &amp; Gas</a:t>
            </a:r>
          </a:p>
        </p:txBody>
      </p:sp>
      <p:pic>
        <p:nvPicPr>
          <p:cNvPr id="109" name="Graphic 108">
            <a:extLst>
              <a:ext uri="{FF2B5EF4-FFF2-40B4-BE49-F238E27FC236}">
                <a16:creationId xmlns:a16="http://schemas.microsoft.com/office/drawing/2014/main" id="{5F20BB9A-E0BE-A23E-14A7-9ABB0FF43D53}"/>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5646397" y="5164897"/>
            <a:ext cx="432000" cy="432000"/>
          </a:xfrm>
          <a:prstGeom prst="rect">
            <a:avLst/>
          </a:prstGeom>
        </p:spPr>
      </p:pic>
      <p:pic>
        <p:nvPicPr>
          <p:cNvPr id="110" name="Graphic 109">
            <a:extLst>
              <a:ext uri="{FF2B5EF4-FFF2-40B4-BE49-F238E27FC236}">
                <a16:creationId xmlns:a16="http://schemas.microsoft.com/office/drawing/2014/main" id="{3AD292C1-F238-AEF5-0B02-EAA4AEC33FBE}"/>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8098975" y="5180629"/>
            <a:ext cx="432000" cy="432000"/>
          </a:xfrm>
          <a:prstGeom prst="rect">
            <a:avLst/>
          </a:prstGeom>
        </p:spPr>
      </p:pic>
      <p:sp>
        <p:nvSpPr>
          <p:cNvPr id="111" name="Rectangle: Rounded Corners 1040">
            <a:extLst>
              <a:ext uri="{FF2B5EF4-FFF2-40B4-BE49-F238E27FC236}">
                <a16:creationId xmlns:a16="http://schemas.microsoft.com/office/drawing/2014/main" id="{276397DB-AA62-0CAB-7BE0-983BE765DFE1}"/>
              </a:ext>
            </a:extLst>
          </p:cNvPr>
          <p:cNvSpPr/>
          <p:nvPr/>
        </p:nvSpPr>
        <p:spPr>
          <a:xfrm>
            <a:off x="5264895" y="558401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Textile</a:t>
            </a:r>
          </a:p>
        </p:txBody>
      </p:sp>
      <p:sp>
        <p:nvSpPr>
          <p:cNvPr id="112" name="Rectangle: Rounded Corners 1041">
            <a:extLst>
              <a:ext uri="{FF2B5EF4-FFF2-40B4-BE49-F238E27FC236}">
                <a16:creationId xmlns:a16="http://schemas.microsoft.com/office/drawing/2014/main" id="{FA7321D7-32D1-EC7C-333B-BAD5BCA22565}"/>
              </a:ext>
            </a:extLst>
          </p:cNvPr>
          <p:cNvSpPr/>
          <p:nvPr/>
        </p:nvSpPr>
        <p:spPr>
          <a:xfrm>
            <a:off x="7775415" y="559395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Pet Food</a:t>
            </a:r>
          </a:p>
        </p:txBody>
      </p:sp>
      <p:sp>
        <p:nvSpPr>
          <p:cNvPr id="115" name="TextBox 114">
            <a:extLst>
              <a:ext uri="{FF2B5EF4-FFF2-40B4-BE49-F238E27FC236}">
                <a16:creationId xmlns:a16="http://schemas.microsoft.com/office/drawing/2014/main" id="{C4511FF5-9088-3895-F214-A3E36DB1353B}"/>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135" name="Picture 134" descr="A blue and red logo&#10;&#10;AI-generated content may be incorrect.">
            <a:extLst>
              <a:ext uri="{FF2B5EF4-FFF2-40B4-BE49-F238E27FC236}">
                <a16:creationId xmlns:a16="http://schemas.microsoft.com/office/drawing/2014/main" id="{932428DE-2A8B-07D3-6040-FD909225D43E}"/>
              </a:ext>
            </a:extLst>
          </p:cNvPr>
          <p:cNvPicPr>
            <a:picLocks noChangeAspect="1"/>
          </p:cNvPicPr>
          <p:nvPr/>
        </p:nvPicPr>
        <p:blipFill>
          <a:blip r:embed="rId29"/>
          <a:stretch>
            <a:fillRect/>
          </a:stretch>
        </p:blipFill>
        <p:spPr>
          <a:xfrm>
            <a:off x="7085336" y="1069674"/>
            <a:ext cx="1292261" cy="720774"/>
          </a:xfrm>
          <a:prstGeom prst="rect">
            <a:avLst/>
          </a:prstGeom>
        </p:spPr>
      </p:pic>
      <p:pic>
        <p:nvPicPr>
          <p:cNvPr id="137" name="Picture 136">
            <a:extLst>
              <a:ext uri="{FF2B5EF4-FFF2-40B4-BE49-F238E27FC236}">
                <a16:creationId xmlns:a16="http://schemas.microsoft.com/office/drawing/2014/main" id="{1656C1FB-8F87-5860-0759-A13EFEDF6295}"/>
              </a:ext>
            </a:extLst>
          </p:cNvPr>
          <p:cNvPicPr>
            <a:picLocks noChangeAspect="1"/>
          </p:cNvPicPr>
          <p:nvPr/>
        </p:nvPicPr>
        <p:blipFill>
          <a:blip r:embed="rId30"/>
          <a:stretch>
            <a:fillRect/>
          </a:stretch>
        </p:blipFill>
        <p:spPr>
          <a:xfrm>
            <a:off x="6480073" y="2005180"/>
            <a:ext cx="2390118" cy="266694"/>
          </a:xfrm>
          <a:prstGeom prst="rect">
            <a:avLst/>
          </a:prstGeom>
        </p:spPr>
      </p:pic>
      <p:pic>
        <p:nvPicPr>
          <p:cNvPr id="141" name="Picture 140" descr="A logo of a bird&#10;&#10;AI-generated content may be incorrect.">
            <a:extLst>
              <a:ext uri="{FF2B5EF4-FFF2-40B4-BE49-F238E27FC236}">
                <a16:creationId xmlns:a16="http://schemas.microsoft.com/office/drawing/2014/main" id="{A8F83D46-4E77-DAB3-46C7-5F42D3DC91C4}"/>
              </a:ext>
            </a:extLst>
          </p:cNvPr>
          <p:cNvPicPr>
            <a:picLocks noChangeAspect="1"/>
          </p:cNvPicPr>
          <p:nvPr/>
        </p:nvPicPr>
        <p:blipFill>
          <a:blip r:embed="rId31"/>
          <a:stretch>
            <a:fillRect/>
          </a:stretch>
        </p:blipFill>
        <p:spPr>
          <a:xfrm>
            <a:off x="6371766" y="2435173"/>
            <a:ext cx="2435943" cy="867236"/>
          </a:xfrm>
          <a:prstGeom prst="rect">
            <a:avLst/>
          </a:prstGeom>
        </p:spPr>
      </p:pic>
      <p:pic>
        <p:nvPicPr>
          <p:cNvPr id="142" name="Picture 141" descr="A white letter on a black background&#10;&#10;AI-generated content may be incorrect.">
            <a:extLst>
              <a:ext uri="{FF2B5EF4-FFF2-40B4-BE49-F238E27FC236}">
                <a16:creationId xmlns:a16="http://schemas.microsoft.com/office/drawing/2014/main" id="{3689B629-6528-B000-F3C3-020A0CCE8207}"/>
              </a:ext>
            </a:extLst>
          </p:cNvPr>
          <p:cNvPicPr>
            <a:picLocks noChangeAspect="1"/>
          </p:cNvPicPr>
          <p:nvPr/>
        </p:nvPicPr>
        <p:blipFill>
          <a:blip r:embed="rId32"/>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01353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AFC663-E858-32BF-3FE0-3340345B9763}"/>
              </a:ext>
            </a:extLst>
          </p:cNvPr>
          <p:cNvSpPr/>
          <p:nvPr/>
        </p:nvSpPr>
        <p:spPr>
          <a:xfrm>
            <a:off x="0" y="580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Key Financial Metrics and Growth Story</a:t>
            </a:r>
            <a:endParaRPr sz="2000" b="1" dirty="0">
              <a:solidFill>
                <a:srgbClr val="FFFFFF"/>
              </a:solidFill>
              <a:latin typeface="Arial"/>
            </a:endParaRPr>
          </a:p>
        </p:txBody>
      </p:sp>
      <p:sp>
        <p:nvSpPr>
          <p:cNvPr id="5" name="TextBox 153">
            <a:extLst>
              <a:ext uri="{FF2B5EF4-FFF2-40B4-BE49-F238E27FC236}">
                <a16:creationId xmlns:a16="http://schemas.microsoft.com/office/drawing/2014/main" id="{E614BAEE-97DD-2E1A-98CA-75F9BC4B179E}"/>
              </a:ext>
            </a:extLst>
          </p:cNvPr>
          <p:cNvSpPr txBox="1"/>
          <p:nvPr/>
        </p:nvSpPr>
        <p:spPr>
          <a:xfrm>
            <a:off x="373317" y="913714"/>
            <a:ext cx="5616000"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1400" b="1" i="0" u="none" strike="noStrike" kern="0" cap="none" spc="0" normalizeH="0" baseline="0" noProof="0" dirty="0">
                <a:ln>
                  <a:noFill/>
                </a:ln>
                <a:solidFill>
                  <a:prstClr val="white"/>
                </a:solidFill>
                <a:effectLst/>
                <a:uLnTx/>
                <a:uFillTx/>
                <a:latin typeface="+mj-lt"/>
                <a:ea typeface="+mn-ea"/>
                <a:cs typeface="+mn-cs"/>
              </a:rPr>
              <a:t>Key Financial Metrics (FY24)</a:t>
            </a:r>
          </a:p>
        </p:txBody>
      </p:sp>
      <p:sp>
        <p:nvSpPr>
          <p:cNvPr id="6" name="Rectangle: Rounded Corners 47">
            <a:extLst>
              <a:ext uri="{FF2B5EF4-FFF2-40B4-BE49-F238E27FC236}">
                <a16:creationId xmlns:a16="http://schemas.microsoft.com/office/drawing/2014/main" id="{BEBD78C8-6D51-B0A8-BA88-786D695A8901}"/>
              </a:ext>
            </a:extLst>
          </p:cNvPr>
          <p:cNvSpPr/>
          <p:nvPr/>
        </p:nvSpPr>
        <p:spPr>
          <a:xfrm>
            <a:off x="6538814" y="920284"/>
            <a:ext cx="2574184"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dirty="0">
                <a:solidFill>
                  <a:schemeClr val="tx1"/>
                </a:solidFill>
              </a:rPr>
              <a:t>Expansion in margins driven by </a:t>
            </a:r>
            <a:r>
              <a:rPr lang="en-IN" sz="1100" b="1" dirty="0">
                <a:solidFill>
                  <a:schemeClr val="tx1"/>
                </a:solidFill>
              </a:rPr>
              <a:t>shift towards pharma-grade and cosmetic-grade derivatives</a:t>
            </a:r>
            <a:r>
              <a:rPr lang="en-IN" sz="1100" dirty="0">
                <a:solidFill>
                  <a:schemeClr val="tx1"/>
                </a:solidFill>
              </a:rPr>
              <a:t> which command 30% higher pricing than standard industrial gums.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7" name="Rectangle: Rounded Corners 48">
            <a:extLst>
              <a:ext uri="{FF2B5EF4-FFF2-40B4-BE49-F238E27FC236}">
                <a16:creationId xmlns:a16="http://schemas.microsoft.com/office/drawing/2014/main" id="{BE05707A-8160-2A15-3DDA-8795E840E907}"/>
              </a:ext>
            </a:extLst>
          </p:cNvPr>
          <p:cNvSpPr/>
          <p:nvPr/>
        </p:nvSpPr>
        <p:spPr>
          <a:xfrm>
            <a:off x="6538814" y="2975320"/>
            <a:ext cx="2574184" cy="757213"/>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b="1" dirty="0">
                <a:solidFill>
                  <a:schemeClr val="tx1"/>
                </a:solidFill>
              </a:rPr>
              <a:t>Contract farming initiatives</a:t>
            </a:r>
            <a:r>
              <a:rPr lang="en-IN" sz="1100" dirty="0">
                <a:solidFill>
                  <a:schemeClr val="tx1"/>
                </a:solidFill>
              </a:rPr>
              <a:t> with 5,000+ farmers in Rajasthan ensure raw material traceability and price stability against market fluctuations.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8" name="TextBox 153">
            <a:extLst>
              <a:ext uri="{FF2B5EF4-FFF2-40B4-BE49-F238E27FC236}">
                <a16:creationId xmlns:a16="http://schemas.microsoft.com/office/drawing/2014/main" id="{77FD56AB-948B-1838-D17A-70BDE6DCDD8B}"/>
              </a:ext>
            </a:extLst>
          </p:cNvPr>
          <p:cNvSpPr txBox="1"/>
          <p:nvPr/>
        </p:nvSpPr>
        <p:spPr>
          <a:xfrm>
            <a:off x="6566721" y="3797017"/>
            <a:ext cx="5352369"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1400" b="1" i="0" u="none" strike="noStrike" kern="0" cap="none" spc="0" normalizeH="0" baseline="0" noProof="0" dirty="0">
                <a:ln>
                  <a:noFill/>
                </a:ln>
                <a:solidFill>
                  <a:prstClr val="white"/>
                </a:solidFill>
                <a:effectLst/>
                <a:uLnTx/>
                <a:uFillTx/>
                <a:latin typeface="+mj-lt"/>
                <a:ea typeface="+mn-ea"/>
                <a:cs typeface="+mn-cs"/>
              </a:rPr>
              <a:t>Global Presence</a:t>
            </a:r>
          </a:p>
        </p:txBody>
      </p:sp>
      <p:sp>
        <p:nvSpPr>
          <p:cNvPr id="9" name="Rectangle: Rounded Corners 437">
            <a:extLst>
              <a:ext uri="{FF2B5EF4-FFF2-40B4-BE49-F238E27FC236}">
                <a16:creationId xmlns:a16="http://schemas.microsoft.com/office/drawing/2014/main" id="{BEE1F9E1-CFC6-FE01-FDEB-2BA2DDEBF4ED}"/>
              </a:ext>
            </a:extLst>
          </p:cNvPr>
          <p:cNvSpPr/>
          <p:nvPr/>
        </p:nvSpPr>
        <p:spPr>
          <a:xfrm>
            <a:off x="6551573" y="1947802"/>
            <a:ext cx="2561425"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dirty="0">
                <a:solidFill>
                  <a:schemeClr val="tx1"/>
                </a:solidFill>
              </a:rPr>
              <a:t>Company has launched a </a:t>
            </a:r>
            <a:r>
              <a:rPr lang="en-IN" sz="1100" b="1" dirty="0">
                <a:solidFill>
                  <a:schemeClr val="tx1"/>
                </a:solidFill>
              </a:rPr>
              <a:t>"Stabilizer Solutions" division</a:t>
            </a:r>
            <a:r>
              <a:rPr lang="en-IN" sz="1100" dirty="0">
                <a:solidFill>
                  <a:schemeClr val="tx1"/>
                </a:solidFill>
              </a:rPr>
              <a:t>, offering pre-mixed blends to food clients, increasing customer stickiness and wallet share</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graphicFrame>
        <p:nvGraphicFramePr>
          <p:cNvPr id="10" name="Chart 9">
            <a:extLst>
              <a:ext uri="{FF2B5EF4-FFF2-40B4-BE49-F238E27FC236}">
                <a16:creationId xmlns:a16="http://schemas.microsoft.com/office/drawing/2014/main" id="{52EABED1-276B-DE31-8446-8655ED8C504A}"/>
              </a:ext>
            </a:extLst>
          </p:cNvPr>
          <p:cNvGraphicFramePr/>
          <p:nvPr>
            <p:extLst>
              <p:ext uri="{D42A27DB-BD31-4B8C-83A1-F6EECF244321}">
                <p14:modId xmlns:p14="http://schemas.microsoft.com/office/powerpoint/2010/main" val="1884045443"/>
              </p:ext>
            </p:extLst>
          </p:nvPr>
        </p:nvGraphicFramePr>
        <p:xfrm>
          <a:off x="912346" y="3200037"/>
          <a:ext cx="2540746" cy="2189653"/>
        </p:xfrm>
        <a:graphic>
          <a:graphicData uri="http://schemas.openxmlformats.org/drawingml/2006/chart">
            <c:chart xmlns:c="http://schemas.openxmlformats.org/drawingml/2006/chart" xmlns:r="http://schemas.openxmlformats.org/officeDocument/2006/relationships" r:id="rId5"/>
          </a:graphicData>
        </a:graphic>
      </p:graphicFrame>
      <p:sp>
        <p:nvSpPr>
          <p:cNvPr id="11" name="Rectangle 10">
            <a:extLst>
              <a:ext uri="{FF2B5EF4-FFF2-40B4-BE49-F238E27FC236}">
                <a16:creationId xmlns:a16="http://schemas.microsoft.com/office/drawing/2014/main" id="{566DDE14-A6FA-60A0-DAE8-BBB94C15A57A}"/>
              </a:ext>
            </a:extLst>
          </p:cNvPr>
          <p:cNvSpPr/>
          <p:nvPr/>
        </p:nvSpPr>
        <p:spPr>
          <a:xfrm>
            <a:off x="9253008" y="1254476"/>
            <a:ext cx="2666082" cy="24457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171450" lvl="0" indent="-171450" algn="just">
              <a:buFont typeface="Wingdings" panose="05000000000000000000" pitchFamily="2" charset="2"/>
              <a:buChar char="ü"/>
              <a:defRPr/>
            </a:pPr>
            <a:r>
              <a:rPr lang="en-IN" sz="1100" dirty="0">
                <a:solidFill>
                  <a:schemeClr val="tx1"/>
                </a:solidFill>
              </a:rPr>
              <a:t>Currently deploying Capex of </a:t>
            </a:r>
            <a:r>
              <a:rPr lang="en-IN" sz="1100" b="1" dirty="0">
                <a:solidFill>
                  <a:schemeClr val="tx1"/>
                </a:solidFill>
              </a:rPr>
              <a:t>~USD 14mn</a:t>
            </a:r>
            <a:r>
              <a:rPr lang="en-IN" sz="1100" dirty="0">
                <a:solidFill>
                  <a:schemeClr val="tx1"/>
                </a:solidFill>
              </a:rPr>
              <a:t> (internally accrued) to set up a dedicated </a:t>
            </a:r>
            <a:r>
              <a:rPr lang="en-IN" sz="1100" b="1" dirty="0">
                <a:solidFill>
                  <a:schemeClr val="tx1"/>
                </a:solidFill>
              </a:rPr>
              <a:t>Derivatization Plant</a:t>
            </a:r>
            <a:r>
              <a:rPr lang="en-IN" sz="1100" dirty="0">
                <a:solidFill>
                  <a:schemeClr val="tx1"/>
                </a:solidFill>
              </a:rPr>
              <a:t>.</a:t>
            </a:r>
          </a:p>
          <a:p>
            <a:pPr marL="171450" lvl="0" indent="-171450" algn="just">
              <a:buFont typeface="Wingdings" panose="05000000000000000000" pitchFamily="2" charset="2"/>
              <a:buChar char="ü"/>
              <a:defRPr/>
            </a:pPr>
            <a:r>
              <a:rPr lang="en-IN" sz="1100" dirty="0">
                <a:solidFill>
                  <a:schemeClr val="tx1"/>
                </a:solidFill>
              </a:rPr>
              <a:t>This adds </a:t>
            </a:r>
            <a:r>
              <a:rPr lang="en-IN" sz="1100" b="1" dirty="0">
                <a:solidFill>
                  <a:schemeClr val="tx1"/>
                </a:solidFill>
              </a:rPr>
              <a:t>8,000 MT</a:t>
            </a:r>
            <a:r>
              <a:rPr lang="en-IN" sz="1100" dirty="0">
                <a:solidFill>
                  <a:schemeClr val="tx1"/>
                </a:solidFill>
              </a:rPr>
              <a:t> of specialized capacity targeting the </a:t>
            </a:r>
            <a:r>
              <a:rPr lang="en-IN" sz="1100" b="1" dirty="0">
                <a:solidFill>
                  <a:schemeClr val="tx1"/>
                </a:solidFill>
              </a:rPr>
              <a:t>Personal Care &amp; Pharma</a:t>
            </a:r>
            <a:r>
              <a:rPr lang="en-IN" sz="1100" dirty="0">
                <a:solidFill>
                  <a:schemeClr val="tx1"/>
                </a:solidFill>
              </a:rPr>
              <a:t> sectors.</a:t>
            </a:r>
          </a:p>
          <a:p>
            <a:pPr marL="171450" lvl="0" indent="-171450" algn="just">
              <a:buFont typeface="Wingdings" panose="05000000000000000000" pitchFamily="2" charset="2"/>
              <a:buChar char="ü"/>
              <a:defRPr/>
            </a:pPr>
            <a:r>
              <a:rPr lang="en-IN" sz="1100" dirty="0">
                <a:solidFill>
                  <a:schemeClr val="tx1"/>
                </a:solidFill>
              </a:rPr>
              <a:t>Expected to generate incremental revenue of </a:t>
            </a:r>
            <a:r>
              <a:rPr lang="en-IN" sz="1100" b="1" dirty="0">
                <a:solidFill>
                  <a:schemeClr val="tx1"/>
                </a:solidFill>
              </a:rPr>
              <a:t>~USD 30mn</a:t>
            </a:r>
            <a:r>
              <a:rPr lang="en-IN" sz="1100" dirty="0">
                <a:solidFill>
                  <a:schemeClr val="tx1"/>
                </a:solidFill>
              </a:rPr>
              <a:t> with superior EBITDA margins of 22%+.</a:t>
            </a:r>
          </a:p>
          <a:p>
            <a:pPr marL="171450" lvl="0" indent="-171450" algn="just">
              <a:buFont typeface="Wingdings" panose="05000000000000000000" pitchFamily="2" charset="2"/>
              <a:buChar char="ü"/>
              <a:defRPr/>
            </a:pPr>
            <a:r>
              <a:rPr lang="en-IN" sz="1100" dirty="0">
                <a:solidFill>
                  <a:schemeClr val="tx1"/>
                </a:solidFill>
              </a:rPr>
              <a:t>Focus on chemically modified gums (Hydroxypropyl Guar) which have high entry barriers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DCF93A6-7B1C-2DE5-A778-5070652C8E6A}"/>
              </a:ext>
            </a:extLst>
          </p:cNvPr>
          <p:cNvSpPr/>
          <p:nvPr/>
        </p:nvSpPr>
        <p:spPr>
          <a:xfrm>
            <a:off x="9661697" y="927959"/>
            <a:ext cx="2166960" cy="260721"/>
          </a:xfrm>
          <a:prstGeom prst="rect">
            <a:avLst/>
          </a:prstGeom>
          <a:noFill/>
          <a:ln>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D2077"/>
                </a:solidFill>
                <a:effectLst/>
                <a:uLnTx/>
                <a:uFillTx/>
                <a:latin typeface="+mj-lt"/>
                <a:ea typeface="+mn-ea"/>
                <a:cs typeface="Calibri" panose="020F0502020204030204" pitchFamily="34" charset="0"/>
              </a:rPr>
              <a:t>Upcoming Facility</a:t>
            </a:r>
          </a:p>
        </p:txBody>
      </p:sp>
      <p:sp>
        <p:nvSpPr>
          <p:cNvPr id="13" name="Isosceles Triangle 10">
            <a:extLst>
              <a:ext uri="{FF2B5EF4-FFF2-40B4-BE49-F238E27FC236}">
                <a16:creationId xmlns:a16="http://schemas.microsoft.com/office/drawing/2014/main" id="{E613F057-A481-C9AE-6829-84A24A9929F2}"/>
              </a:ext>
            </a:extLst>
          </p:cNvPr>
          <p:cNvSpPr/>
          <p:nvPr/>
        </p:nvSpPr>
        <p:spPr>
          <a:xfrm rot="5400000">
            <a:off x="8647612" y="4924304"/>
            <a:ext cx="721450" cy="209321"/>
          </a:xfrm>
          <a:prstGeom prst="triangle">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sp>
        <p:nvSpPr>
          <p:cNvPr id="15" name="TextBox 51">
            <a:extLst>
              <a:ext uri="{FF2B5EF4-FFF2-40B4-BE49-F238E27FC236}">
                <a16:creationId xmlns:a16="http://schemas.microsoft.com/office/drawing/2014/main" id="{783FB509-D466-372D-707A-7F46A725DCA9}"/>
              </a:ext>
            </a:extLst>
          </p:cNvPr>
          <p:cNvSpPr txBox="1">
            <a:spLocks noChangeArrowheads="1"/>
          </p:cNvSpPr>
          <p:nvPr/>
        </p:nvSpPr>
        <p:spPr bwMode="auto">
          <a:xfrm>
            <a:off x="373317" y="1331697"/>
            <a:ext cx="1260000" cy="419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r>
              <a:rPr lang="en-US" altLang="en-US" sz="1400" b="1" kern="0" dirty="0">
                <a:solidFill>
                  <a:prstClr val="white"/>
                </a:solidFill>
                <a:latin typeface="Univers for KPMG" panose="020B0603020202020204"/>
              </a:rPr>
              <a:t>19.5</a:t>
            </a: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EBITDA Margin</a:t>
            </a:r>
          </a:p>
        </p:txBody>
      </p:sp>
      <p:sp>
        <p:nvSpPr>
          <p:cNvPr id="16" name="TextBox 51">
            <a:extLst>
              <a:ext uri="{FF2B5EF4-FFF2-40B4-BE49-F238E27FC236}">
                <a16:creationId xmlns:a16="http://schemas.microsoft.com/office/drawing/2014/main" id="{C314D67A-DF2C-B1A0-26B3-E8E5B338753D}"/>
              </a:ext>
            </a:extLst>
          </p:cNvPr>
          <p:cNvSpPr txBox="1">
            <a:spLocks noChangeArrowheads="1"/>
          </p:cNvSpPr>
          <p:nvPr>
            <p:custDataLst>
              <p:tags r:id="rId1"/>
            </p:custDataLst>
          </p:nvPr>
        </p:nvSpPr>
        <p:spPr bwMode="auto">
          <a:xfrm>
            <a:off x="1835002" y="1320727"/>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32.4%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err="1">
                <a:ln>
                  <a:noFill/>
                </a:ln>
                <a:solidFill>
                  <a:prstClr val="white"/>
                </a:solidFill>
                <a:effectLst/>
                <a:uLnTx/>
                <a:uFillTx/>
                <a:latin typeface="+mj-lt"/>
                <a:ea typeface="+mn-ea"/>
                <a:cs typeface="Arial" panose="020B0604020202020204" pitchFamily="34" charset="0"/>
              </a:rPr>
              <a:t>RoCE</a:t>
            </a:r>
            <a:endParaRPr kumimoji="0" lang="en-US" altLang="en-US" sz="1100" b="1"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sp>
        <p:nvSpPr>
          <p:cNvPr id="17" name="TextBox 51">
            <a:extLst>
              <a:ext uri="{FF2B5EF4-FFF2-40B4-BE49-F238E27FC236}">
                <a16:creationId xmlns:a16="http://schemas.microsoft.com/office/drawing/2014/main" id="{F93E2C26-CA8A-C10C-0419-725FAB6F04BA}"/>
              </a:ext>
            </a:extLst>
          </p:cNvPr>
          <p:cNvSpPr txBox="1">
            <a:spLocks noChangeArrowheads="1"/>
          </p:cNvSpPr>
          <p:nvPr>
            <p:custDataLst>
              <p:tags r:id="rId2"/>
            </p:custDataLst>
          </p:nvPr>
        </p:nvSpPr>
        <p:spPr bwMode="auto">
          <a:xfrm>
            <a:off x="4742386" y="1329616"/>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Zero Debt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(last 3 </a:t>
            </a:r>
            <a:r>
              <a:rPr kumimoji="0" lang="en-US" altLang="en-US" sz="1100" b="1" i="0" u="none" strike="noStrike" kern="0" cap="none" spc="0" normalizeH="0" baseline="0" noProof="0" dirty="0">
                <a:ln>
                  <a:noFill/>
                </a:ln>
                <a:solidFill>
                  <a:prstClr val="white"/>
                </a:solidFill>
                <a:effectLst/>
                <a:uLnTx/>
                <a:uFillTx/>
                <a:latin typeface="+mj-lt"/>
                <a:ea typeface="+mn-ea"/>
                <a:cs typeface="Arial" panose="020B0604020202020204" pitchFamily="34" charset="0"/>
              </a:rPr>
              <a:t>years</a:t>
            </a: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p>
        </p:txBody>
      </p:sp>
      <p:sp>
        <p:nvSpPr>
          <p:cNvPr id="18" name="TextBox 51">
            <a:extLst>
              <a:ext uri="{FF2B5EF4-FFF2-40B4-BE49-F238E27FC236}">
                <a16:creationId xmlns:a16="http://schemas.microsoft.com/office/drawing/2014/main" id="{24757C63-A69D-9A08-3899-C62BC01E1F51}"/>
              </a:ext>
            </a:extLst>
          </p:cNvPr>
          <p:cNvSpPr txBox="1">
            <a:spLocks noChangeArrowheads="1"/>
          </p:cNvSpPr>
          <p:nvPr>
            <p:custDataLst>
              <p:tags r:id="rId3"/>
            </p:custDataLst>
          </p:nvPr>
        </p:nvSpPr>
        <p:spPr bwMode="auto">
          <a:xfrm>
            <a:off x="3296687" y="1329616"/>
            <a:ext cx="1260000" cy="42721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mj-lt"/>
                <a:ea typeface="+mn-ea"/>
                <a:cs typeface="Arial" panose="020B0604020202020204" pitchFamily="34" charset="0"/>
              </a:rPr>
              <a:t>21.0%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dirty="0" err="1">
                <a:ln>
                  <a:noFill/>
                </a:ln>
                <a:solidFill>
                  <a:prstClr val="white"/>
                </a:solidFill>
                <a:effectLst/>
                <a:uLnTx/>
                <a:uFillTx/>
                <a:latin typeface="+mj-lt"/>
                <a:ea typeface="+mn-ea"/>
                <a:cs typeface="Arial" panose="020B0604020202020204" pitchFamily="34" charset="0"/>
              </a:rPr>
              <a:t>RoE</a:t>
            </a:r>
            <a:endParaRPr kumimoji="0" lang="en-US" altLang="en-US" sz="900" b="1"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pic>
        <p:nvPicPr>
          <p:cNvPr id="33" name="Picture 2">
            <a:extLst>
              <a:ext uri="{FF2B5EF4-FFF2-40B4-BE49-F238E27FC236}">
                <a16:creationId xmlns:a16="http://schemas.microsoft.com/office/drawing/2014/main" id="{CDA071E9-434F-1462-89BC-502D17AA57C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44073" y="4113201"/>
            <a:ext cx="3178762" cy="238350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4ECD2ED-372E-7C37-F4FB-4B5CA930C9F9}"/>
              </a:ext>
            </a:extLst>
          </p:cNvPr>
          <p:cNvSpPr txBox="1"/>
          <p:nvPr/>
        </p:nvSpPr>
        <p:spPr>
          <a:xfrm>
            <a:off x="4132468" y="6528518"/>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graphicFrame>
        <p:nvGraphicFramePr>
          <p:cNvPr id="37" name="Chart 36">
            <a:extLst>
              <a:ext uri="{FF2B5EF4-FFF2-40B4-BE49-F238E27FC236}">
                <a16:creationId xmlns:a16="http://schemas.microsoft.com/office/drawing/2014/main" id="{73CFC11F-43E6-DB0A-66A5-6ACE2E1FCA1D}"/>
              </a:ext>
            </a:extLst>
          </p:cNvPr>
          <p:cNvGraphicFramePr/>
          <p:nvPr>
            <p:extLst>
              <p:ext uri="{D42A27DB-BD31-4B8C-83A1-F6EECF244321}">
                <p14:modId xmlns:p14="http://schemas.microsoft.com/office/powerpoint/2010/main" val="2753143582"/>
              </p:ext>
            </p:extLst>
          </p:nvPr>
        </p:nvGraphicFramePr>
        <p:xfrm>
          <a:off x="6467590" y="4077458"/>
          <a:ext cx="2540747" cy="251397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8" name="Chart 37">
            <a:extLst>
              <a:ext uri="{FF2B5EF4-FFF2-40B4-BE49-F238E27FC236}">
                <a16:creationId xmlns:a16="http://schemas.microsoft.com/office/drawing/2014/main" id="{B95FDE2A-815A-59C7-98D2-B762843E755F}"/>
              </a:ext>
            </a:extLst>
          </p:cNvPr>
          <p:cNvGraphicFramePr/>
          <p:nvPr>
            <p:extLst>
              <p:ext uri="{D42A27DB-BD31-4B8C-83A1-F6EECF244321}">
                <p14:modId xmlns:p14="http://schemas.microsoft.com/office/powerpoint/2010/main" val="1036651820"/>
              </p:ext>
            </p:extLst>
          </p:nvPr>
        </p:nvGraphicFramePr>
        <p:xfrm>
          <a:off x="329650" y="1926956"/>
          <a:ext cx="5934074" cy="3407489"/>
        </p:xfrm>
        <a:graphic>
          <a:graphicData uri="http://schemas.openxmlformats.org/drawingml/2006/chart">
            <c:chart xmlns:c="http://schemas.openxmlformats.org/drawingml/2006/chart" xmlns:r="http://schemas.openxmlformats.org/officeDocument/2006/relationships" r:id="rId8"/>
          </a:graphicData>
        </a:graphic>
      </p:graphicFrame>
      <p:sp>
        <p:nvSpPr>
          <p:cNvPr id="46" name="TextBox 45">
            <a:extLst>
              <a:ext uri="{FF2B5EF4-FFF2-40B4-BE49-F238E27FC236}">
                <a16:creationId xmlns:a16="http://schemas.microsoft.com/office/drawing/2014/main" id="{DCDE2AEF-EBB1-74AF-1CEA-DADF4F1A6C02}"/>
              </a:ext>
            </a:extLst>
          </p:cNvPr>
          <p:cNvSpPr txBox="1"/>
          <p:nvPr/>
        </p:nvSpPr>
        <p:spPr>
          <a:xfrm>
            <a:off x="437636" y="5334445"/>
            <a:ext cx="582608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sng" strike="noStrike" kern="1200" cap="none" spc="0" normalizeH="0" baseline="0" noProof="0" dirty="0">
                <a:ln>
                  <a:noFill/>
                </a:ln>
                <a:solidFill>
                  <a:srgbClr val="000000"/>
                </a:solidFill>
                <a:effectLst/>
                <a:uLnTx/>
                <a:uFillTx/>
                <a:latin typeface="Univers for KPMG"/>
                <a:ea typeface="+mn-ea"/>
                <a:cs typeface="Times New Roman"/>
              </a:rPr>
              <a:t>Assumptions</a:t>
            </a:r>
            <a:r>
              <a:rPr kumimoji="0" lang="en-US" sz="1200" b="0" i="1" u="none" strike="noStrike" kern="1200" cap="none" spc="0" normalizeH="0" baseline="0" noProof="0" dirty="0">
                <a:ln>
                  <a:noFill/>
                </a:ln>
                <a:solidFill>
                  <a:srgbClr val="000000"/>
                </a:solidFill>
                <a:effectLst/>
                <a:uLnTx/>
                <a:uFillTx/>
                <a:latin typeface="Univers for KPMG"/>
                <a:ea typeface="+mn-ea"/>
                <a:cs typeface="Times New Roman"/>
              </a:rPr>
              <a:t>:</a:t>
            </a:r>
          </a:p>
          <a:p>
            <a:pPr marL="171450" lvl="0" indent="-171450">
              <a:buFont typeface="Arial" panose="020B0604020202020204" pitchFamily="34" charset="0"/>
              <a:buChar char="•"/>
              <a:defRPr/>
            </a:pPr>
            <a:r>
              <a:rPr lang="en-IN" sz="1200" dirty="0"/>
              <a:t>Revenue assumed to grow at a constant </a:t>
            </a:r>
            <a:r>
              <a:rPr lang="en-IN" sz="1200" b="1" dirty="0"/>
              <a:t>18% CAGR</a:t>
            </a:r>
            <a:r>
              <a:rPr lang="en-IN" sz="1200" dirty="0"/>
              <a:t> (FY26E-28E)</a:t>
            </a:r>
          </a:p>
          <a:p>
            <a:pPr marL="171450" lvl="0" indent="-171450">
              <a:buFont typeface="Arial" panose="020B0604020202020204" pitchFamily="34" charset="0"/>
              <a:buChar char="•"/>
              <a:defRPr/>
            </a:pPr>
            <a:r>
              <a:rPr lang="en-IN" sz="1200" dirty="0"/>
              <a:t>Additional Revenues (FY26 onwards) stemming from materialization of planned capex of </a:t>
            </a:r>
            <a:r>
              <a:rPr lang="en-IN" sz="1200" b="1" dirty="0"/>
              <a:t>$14mn</a:t>
            </a:r>
          </a:p>
          <a:p>
            <a:pPr marL="171450" lvl="0" indent="-171450">
              <a:buFont typeface="Arial" panose="020B0604020202020204" pitchFamily="34" charset="0"/>
              <a:buChar char="•"/>
              <a:defRPr/>
            </a:pPr>
            <a:r>
              <a:rPr lang="en-IN" sz="1200" dirty="0"/>
              <a:t>EBITDA and PAT margins assumed to improve slightly due to product mix shift towards derivatives.</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47" name="TextBox 46">
            <a:extLst>
              <a:ext uri="{FF2B5EF4-FFF2-40B4-BE49-F238E27FC236}">
                <a16:creationId xmlns:a16="http://schemas.microsoft.com/office/drawing/2014/main" id="{CCD10EA8-E952-0256-D553-EDF317CB58E5}"/>
              </a:ext>
            </a:extLst>
          </p:cNvPr>
          <p:cNvSpPr txBox="1"/>
          <p:nvPr/>
        </p:nvSpPr>
        <p:spPr>
          <a:xfrm rot="20380521">
            <a:off x="2263136" y="2587608"/>
            <a:ext cx="1752727" cy="369332"/>
          </a:xfrm>
          <a:prstGeom prst="rect">
            <a:avLst/>
          </a:prstGeom>
          <a:noFill/>
        </p:spPr>
        <p:txBody>
          <a:bodyPr wrap="square" rtlCol="0">
            <a:spAutoFit/>
          </a:bodyPr>
          <a:lstStyle/>
          <a:p>
            <a:r>
              <a:rPr lang="en-US" b="1" dirty="0">
                <a:solidFill>
                  <a:srgbClr val="002060"/>
                </a:solidFill>
              </a:rPr>
              <a:t>18% CAGR(5Y)</a:t>
            </a:r>
          </a:p>
        </p:txBody>
      </p:sp>
      <p:pic>
        <p:nvPicPr>
          <p:cNvPr id="49" name="Picture 48" descr="A white letter on a black background&#10;&#10;AI-generated content may be incorrect.">
            <a:extLst>
              <a:ext uri="{FF2B5EF4-FFF2-40B4-BE49-F238E27FC236}">
                <a16:creationId xmlns:a16="http://schemas.microsoft.com/office/drawing/2014/main" id="{66BDD94F-BB50-A926-2031-74F9568FCC08}"/>
              </a:ext>
            </a:extLst>
          </p:cNvPr>
          <p:cNvPicPr>
            <a:picLocks noChangeAspect="1"/>
          </p:cNvPicPr>
          <p:nvPr/>
        </p:nvPicPr>
        <p:blipFill>
          <a:blip r:embed="rId9"/>
          <a:stretch>
            <a:fillRect/>
          </a:stretch>
        </p:blipFill>
        <p:spPr>
          <a:xfrm>
            <a:off x="10918417" y="78606"/>
            <a:ext cx="1000673" cy="380358"/>
          </a:xfrm>
          <a:prstGeom prst="rect">
            <a:avLst/>
          </a:prstGeom>
        </p:spPr>
      </p:pic>
    </p:spTree>
    <p:extLst>
      <p:ext uri="{BB962C8B-B14F-4D97-AF65-F5344CB8AC3E}">
        <p14:creationId xmlns:p14="http://schemas.microsoft.com/office/powerpoint/2010/main" val="561015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2079CC-5E45-A219-07A6-460996A50292}"/>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grpSp>
        <p:nvGrpSpPr>
          <p:cNvPr id="5" name="Group 4">
            <a:extLst>
              <a:ext uri="{FF2B5EF4-FFF2-40B4-BE49-F238E27FC236}">
                <a16:creationId xmlns:a16="http://schemas.microsoft.com/office/drawing/2014/main" id="{54EA1519-91EF-6DF0-E536-2648C5DD8645}"/>
              </a:ext>
            </a:extLst>
          </p:cNvPr>
          <p:cNvGrpSpPr/>
          <p:nvPr/>
        </p:nvGrpSpPr>
        <p:grpSpPr>
          <a:xfrm>
            <a:off x="241915" y="1680059"/>
            <a:ext cx="3200400" cy="3200400"/>
            <a:chOff x="4495800" y="1695105"/>
            <a:chExt cx="3200400" cy="3200400"/>
          </a:xfrm>
        </p:grpSpPr>
        <p:sp>
          <p:nvSpPr>
            <p:cNvPr id="6" name="Oval 5">
              <a:extLst>
                <a:ext uri="{FF2B5EF4-FFF2-40B4-BE49-F238E27FC236}">
                  <a16:creationId xmlns:a16="http://schemas.microsoft.com/office/drawing/2014/main" id="{D0396942-13ED-CE87-2FA9-40C7C91837CE}"/>
                </a:ext>
              </a:extLst>
            </p:cNvPr>
            <p:cNvSpPr/>
            <p:nvPr/>
          </p:nvSpPr>
          <p:spPr>
            <a:xfrm>
              <a:off x="4495800" y="1695105"/>
              <a:ext cx="3200400" cy="3200400"/>
            </a:xfrm>
            <a:prstGeom prst="ellipse">
              <a:avLst/>
            </a:prstGeom>
            <a:solidFill>
              <a:schemeClr val="bg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Picture 6" descr="Abstract background with network pattern">
              <a:extLst>
                <a:ext uri="{FF2B5EF4-FFF2-40B4-BE49-F238E27FC236}">
                  <a16:creationId xmlns:a16="http://schemas.microsoft.com/office/drawing/2014/main" id="{2941572C-6E78-9C91-BA82-8E25581A42BD}"/>
                </a:ext>
              </a:extLst>
            </p:cNvPr>
            <p:cNvPicPr>
              <a:picLocks noChangeAspect="1"/>
            </p:cNvPicPr>
            <p:nvPr/>
          </p:nvPicPr>
          <p:blipFill>
            <a:blip r:embed="rId2">
              <a:extLst>
                <a:ext uri="{28A0092B-C50C-407E-A947-70E740481C1C}">
                  <a14:useLocalDpi xmlns:a14="http://schemas.microsoft.com/office/drawing/2010/main" val="0"/>
                </a:ext>
              </a:extLst>
            </a:blip>
            <a:srcRect l="16686" r="16686"/>
            <a:stretch/>
          </p:blipFill>
          <p:spPr>
            <a:xfrm>
              <a:off x="4597299" y="1812885"/>
              <a:ext cx="2997403" cy="2993868"/>
            </a:xfrm>
            <a:prstGeom prst="flowChartConnector">
              <a:avLst/>
            </a:prstGeom>
          </p:spPr>
        </p:pic>
      </p:grpSp>
      <p:grpSp>
        <p:nvGrpSpPr>
          <p:cNvPr id="8" name="Group 7">
            <a:extLst>
              <a:ext uri="{FF2B5EF4-FFF2-40B4-BE49-F238E27FC236}">
                <a16:creationId xmlns:a16="http://schemas.microsoft.com/office/drawing/2014/main" id="{55948E65-EA27-3F2C-5C68-03B08100EF0F}"/>
              </a:ext>
            </a:extLst>
          </p:cNvPr>
          <p:cNvGrpSpPr/>
          <p:nvPr/>
        </p:nvGrpSpPr>
        <p:grpSpPr>
          <a:xfrm>
            <a:off x="4049348" y="910594"/>
            <a:ext cx="7589908" cy="654869"/>
            <a:chOff x="4079576" y="991119"/>
            <a:chExt cx="7589908" cy="654869"/>
          </a:xfrm>
        </p:grpSpPr>
        <p:grpSp>
          <p:nvGrpSpPr>
            <p:cNvPr id="9" name="Group 8">
              <a:extLst>
                <a:ext uri="{FF2B5EF4-FFF2-40B4-BE49-F238E27FC236}">
                  <a16:creationId xmlns:a16="http://schemas.microsoft.com/office/drawing/2014/main" id="{84E962B5-17D2-20C5-7702-36D9560D8E1F}"/>
                </a:ext>
              </a:extLst>
            </p:cNvPr>
            <p:cNvGrpSpPr/>
            <p:nvPr/>
          </p:nvGrpSpPr>
          <p:grpSpPr>
            <a:xfrm>
              <a:off x="4079576" y="1016272"/>
              <a:ext cx="604562" cy="604562"/>
              <a:chOff x="619309" y="978224"/>
              <a:chExt cx="604562" cy="604562"/>
            </a:xfrm>
          </p:grpSpPr>
          <p:sp>
            <p:nvSpPr>
              <p:cNvPr id="11" name="Oval 10">
                <a:extLst>
                  <a:ext uri="{FF2B5EF4-FFF2-40B4-BE49-F238E27FC236}">
                    <a16:creationId xmlns:a16="http://schemas.microsoft.com/office/drawing/2014/main" id="{171033E0-EEF6-9408-2AA3-6C9D3447E195}"/>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12" name="Graphic 11" descr="Open hand with plant with solid fill">
                <a:extLst>
                  <a:ext uri="{FF2B5EF4-FFF2-40B4-BE49-F238E27FC236}">
                    <a16:creationId xmlns:a16="http://schemas.microsoft.com/office/drawing/2014/main" id="{E707ECC6-2B46-D2B2-306D-BF587210C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63511" y="1022426"/>
                <a:ext cx="516155" cy="516155"/>
              </a:xfrm>
              <a:prstGeom prst="rect">
                <a:avLst/>
              </a:prstGeom>
            </p:spPr>
          </p:pic>
        </p:grpSp>
        <p:sp>
          <p:nvSpPr>
            <p:cNvPr id="10" name="Rectangle: Rounded Corners 54">
              <a:extLst>
                <a:ext uri="{FF2B5EF4-FFF2-40B4-BE49-F238E27FC236}">
                  <a16:creationId xmlns:a16="http://schemas.microsoft.com/office/drawing/2014/main" id="{8212E8DA-9021-8F8C-A7B1-645FF7D44656}"/>
                </a:ext>
              </a:extLst>
            </p:cNvPr>
            <p:cNvSpPr/>
            <p:nvPr/>
          </p:nvSpPr>
          <p:spPr>
            <a:xfrm>
              <a:off x="5021941" y="991119"/>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Leading global player in natural hydrocolloids with proprietary processing tech</a:t>
              </a:r>
              <a:r>
                <a:rPr lang="en-IN" sz="1200" dirty="0">
                  <a:solidFill>
                    <a:schemeClr val="tx1"/>
                  </a:solidFill>
                </a:rPr>
                <a:t> - Ranked among the top 5 exporters of cassia gum globally; offering 50+ customized mesh sizes.</a:t>
              </a:r>
              <a:endParaRPr lang="en-US" sz="1200" i="1" dirty="0">
                <a:solidFill>
                  <a:schemeClr val="tx1"/>
                </a:solidFill>
                <a:highlight>
                  <a:srgbClr val="FFFF00"/>
                </a:highlight>
                <a:latin typeface="Univers for KPMG" panose="020B0603020202020204"/>
              </a:endParaRPr>
            </a:p>
          </p:txBody>
        </p:sp>
      </p:grpSp>
      <p:cxnSp>
        <p:nvCxnSpPr>
          <p:cNvPr id="13" name="Connector: Elbow 73">
            <a:extLst>
              <a:ext uri="{FF2B5EF4-FFF2-40B4-BE49-F238E27FC236}">
                <a16:creationId xmlns:a16="http://schemas.microsoft.com/office/drawing/2014/main" id="{25C2FE27-DF52-89ED-3B2F-9BFB3DE90E43}"/>
              </a:ext>
            </a:extLst>
          </p:cNvPr>
          <p:cNvCxnSpPr>
            <a:stCxn id="6" idx="6"/>
            <a:endCxn id="11" idx="2"/>
          </p:cNvCxnSpPr>
          <p:nvPr/>
        </p:nvCxnSpPr>
        <p:spPr>
          <a:xfrm flipV="1">
            <a:off x="3442315" y="1238028"/>
            <a:ext cx="607033" cy="2042231"/>
          </a:xfrm>
          <a:prstGeom prst="bentConnector3">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08">
            <a:extLst>
              <a:ext uri="{FF2B5EF4-FFF2-40B4-BE49-F238E27FC236}">
                <a16:creationId xmlns:a16="http://schemas.microsoft.com/office/drawing/2014/main" id="{890858F3-9D0F-83E3-EBEF-0FCFF482D95A}"/>
              </a:ext>
            </a:extLst>
          </p:cNvPr>
          <p:cNvCxnSpPr>
            <a:cxnSpLocks/>
            <a:stCxn id="6" idx="6"/>
            <a:endCxn id="19" idx="2"/>
          </p:cNvCxnSpPr>
          <p:nvPr/>
        </p:nvCxnSpPr>
        <p:spPr>
          <a:xfrm flipV="1">
            <a:off x="3442315" y="2206383"/>
            <a:ext cx="607033" cy="1073876"/>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09">
            <a:extLst>
              <a:ext uri="{FF2B5EF4-FFF2-40B4-BE49-F238E27FC236}">
                <a16:creationId xmlns:a16="http://schemas.microsoft.com/office/drawing/2014/main" id="{C3CECA39-EA51-76C5-2B54-17983D09F35A}"/>
              </a:ext>
            </a:extLst>
          </p:cNvPr>
          <p:cNvCxnSpPr>
            <a:cxnSpLocks/>
            <a:stCxn id="6" idx="6"/>
            <a:endCxn id="32" idx="2"/>
          </p:cNvCxnSpPr>
          <p:nvPr/>
        </p:nvCxnSpPr>
        <p:spPr>
          <a:xfrm>
            <a:off x="3442315" y="3280259"/>
            <a:ext cx="607033" cy="1831187"/>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67A1E66-B067-22D1-8035-B27A5B27BD15}"/>
              </a:ext>
            </a:extLst>
          </p:cNvPr>
          <p:cNvGrpSpPr/>
          <p:nvPr/>
        </p:nvGrpSpPr>
        <p:grpSpPr>
          <a:xfrm>
            <a:off x="4049348" y="1878949"/>
            <a:ext cx="7589908" cy="654869"/>
            <a:chOff x="4079576" y="1963058"/>
            <a:chExt cx="7589908" cy="654869"/>
          </a:xfrm>
        </p:grpSpPr>
        <p:grpSp>
          <p:nvGrpSpPr>
            <p:cNvPr id="17" name="Group 16">
              <a:extLst>
                <a:ext uri="{FF2B5EF4-FFF2-40B4-BE49-F238E27FC236}">
                  <a16:creationId xmlns:a16="http://schemas.microsoft.com/office/drawing/2014/main" id="{6F281CE4-B2D8-44CA-EE55-F5C1BDD2FF9B}"/>
                </a:ext>
              </a:extLst>
            </p:cNvPr>
            <p:cNvGrpSpPr/>
            <p:nvPr/>
          </p:nvGrpSpPr>
          <p:grpSpPr>
            <a:xfrm>
              <a:off x="4079576" y="1988211"/>
              <a:ext cx="604562" cy="604562"/>
              <a:chOff x="620914" y="1985331"/>
              <a:chExt cx="604562" cy="604562"/>
            </a:xfrm>
          </p:grpSpPr>
          <p:sp>
            <p:nvSpPr>
              <p:cNvPr id="19" name="Oval 18">
                <a:extLst>
                  <a:ext uri="{FF2B5EF4-FFF2-40B4-BE49-F238E27FC236}">
                    <a16:creationId xmlns:a16="http://schemas.microsoft.com/office/drawing/2014/main" id="{EC1213CD-D23B-B932-4124-ABE480A8FFEA}"/>
                  </a:ext>
                </a:extLst>
              </p:cNvPr>
              <p:cNvSpPr/>
              <p:nvPr/>
            </p:nvSpPr>
            <p:spPr>
              <a:xfrm>
                <a:off x="620914" y="1985331"/>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0" name="Graphic 19" descr="Social network with solid fill">
                <a:extLst>
                  <a:ext uri="{FF2B5EF4-FFF2-40B4-BE49-F238E27FC236}">
                    <a16:creationId xmlns:a16="http://schemas.microsoft.com/office/drawing/2014/main" id="{CA0D632E-284C-BADF-1E8D-72984472FF9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04877" y="2069293"/>
                <a:ext cx="436637" cy="436637"/>
              </a:xfrm>
              <a:prstGeom prst="rect">
                <a:avLst/>
              </a:prstGeom>
            </p:spPr>
          </p:pic>
        </p:grpSp>
        <p:sp>
          <p:nvSpPr>
            <p:cNvPr id="18" name="Rectangle: Rounded Corners 116">
              <a:extLst>
                <a:ext uri="{FF2B5EF4-FFF2-40B4-BE49-F238E27FC236}">
                  <a16:creationId xmlns:a16="http://schemas.microsoft.com/office/drawing/2014/main" id="{C3FEB693-F9D1-5EDC-AD19-F1F64516C49E}"/>
                </a:ext>
              </a:extLst>
            </p:cNvPr>
            <p:cNvSpPr/>
            <p:nvPr/>
          </p:nvSpPr>
          <p:spPr>
            <a:xfrm>
              <a:off x="5021941" y="19630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Catering to recession-resistant industries like Processed Food and Pharma</a:t>
              </a:r>
              <a:r>
                <a:rPr lang="en-IN" sz="1200" dirty="0">
                  <a:solidFill>
                    <a:schemeClr val="tx1"/>
                  </a:solidFill>
                </a:rPr>
                <a:t> - Deep integration with clients' R&amp;D teams has resulted in a 90% client retention rate over the last decade.</a:t>
              </a:r>
              <a:endParaRPr lang="en-US" sz="1200" i="1" dirty="0">
                <a:solidFill>
                  <a:schemeClr val="tx1"/>
                </a:solidFill>
                <a:latin typeface="Univers for KPMG" panose="020B0603020202020204"/>
              </a:endParaRPr>
            </a:p>
          </p:txBody>
        </p:sp>
      </p:grpSp>
      <p:grpSp>
        <p:nvGrpSpPr>
          <p:cNvPr id="21" name="Group 20">
            <a:extLst>
              <a:ext uri="{FF2B5EF4-FFF2-40B4-BE49-F238E27FC236}">
                <a16:creationId xmlns:a16="http://schemas.microsoft.com/office/drawing/2014/main" id="{2241298E-1F5C-7141-68B9-A22764821E86}"/>
              </a:ext>
            </a:extLst>
          </p:cNvPr>
          <p:cNvGrpSpPr/>
          <p:nvPr/>
        </p:nvGrpSpPr>
        <p:grpSpPr>
          <a:xfrm>
            <a:off x="4049348" y="2847304"/>
            <a:ext cx="7589908" cy="654869"/>
            <a:chOff x="4079576" y="2934997"/>
            <a:chExt cx="7589908" cy="654869"/>
          </a:xfrm>
        </p:grpSpPr>
        <p:sp>
          <p:nvSpPr>
            <p:cNvPr id="22" name="Rectangle: Rounded Corners 117">
              <a:extLst>
                <a:ext uri="{FF2B5EF4-FFF2-40B4-BE49-F238E27FC236}">
                  <a16:creationId xmlns:a16="http://schemas.microsoft.com/office/drawing/2014/main" id="{8CC6D2D0-8CA1-D444-43D0-1A890AECF385}"/>
                </a:ext>
              </a:extLst>
            </p:cNvPr>
            <p:cNvSpPr/>
            <p:nvPr/>
          </p:nvSpPr>
          <p:spPr>
            <a:xfrm>
              <a:off x="5021941" y="2934997"/>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Strategically located manufacturing in the heart of the "Guar Belt" (Rajasthan/Gujarat)</a:t>
              </a:r>
              <a:r>
                <a:rPr lang="en-IN" sz="1200" dirty="0">
                  <a:solidFill>
                    <a:schemeClr val="tx1"/>
                  </a:solidFill>
                </a:rPr>
                <a:t> - Minimal logistics cost for raw material procurement; fully automated pulverizing and sterilization units.</a:t>
              </a:r>
              <a:endParaRPr lang="en-US" sz="1200" i="1" dirty="0">
                <a:solidFill>
                  <a:schemeClr val="tx1"/>
                </a:solidFill>
                <a:latin typeface="Univers for KPMG" panose="020B0603020202020204"/>
              </a:endParaRPr>
            </a:p>
          </p:txBody>
        </p:sp>
        <p:grpSp>
          <p:nvGrpSpPr>
            <p:cNvPr id="23" name="Group 22">
              <a:extLst>
                <a:ext uri="{FF2B5EF4-FFF2-40B4-BE49-F238E27FC236}">
                  <a16:creationId xmlns:a16="http://schemas.microsoft.com/office/drawing/2014/main" id="{87E2B882-2FF9-C8B3-0E7D-9948A9503F16}"/>
                </a:ext>
              </a:extLst>
            </p:cNvPr>
            <p:cNvGrpSpPr/>
            <p:nvPr/>
          </p:nvGrpSpPr>
          <p:grpSpPr>
            <a:xfrm>
              <a:off x="4079576" y="2960150"/>
              <a:ext cx="604562" cy="604562"/>
              <a:chOff x="4101677" y="2960150"/>
              <a:chExt cx="604562" cy="604562"/>
            </a:xfrm>
          </p:grpSpPr>
          <p:sp>
            <p:nvSpPr>
              <p:cNvPr id="24" name="Oval 23">
                <a:extLst>
                  <a:ext uri="{FF2B5EF4-FFF2-40B4-BE49-F238E27FC236}">
                    <a16:creationId xmlns:a16="http://schemas.microsoft.com/office/drawing/2014/main" id="{64E817FE-0195-A3F9-333A-D0895291E6F5}"/>
                  </a:ext>
                </a:extLst>
              </p:cNvPr>
              <p:cNvSpPr/>
              <p:nvPr/>
            </p:nvSpPr>
            <p:spPr>
              <a:xfrm>
                <a:off x="4101677" y="2960150"/>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5" name="Graphic 24" descr="Factory with solid fill">
                <a:extLst>
                  <a:ext uri="{FF2B5EF4-FFF2-40B4-BE49-F238E27FC236}">
                    <a16:creationId xmlns:a16="http://schemas.microsoft.com/office/drawing/2014/main" id="{262CE4DE-D843-CDB4-4444-42A7E3B774B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145879" y="3004352"/>
                <a:ext cx="516155" cy="516155"/>
              </a:xfrm>
              <a:prstGeom prst="rect">
                <a:avLst/>
              </a:prstGeom>
            </p:spPr>
          </p:pic>
        </p:grpSp>
      </p:grpSp>
      <p:sp>
        <p:nvSpPr>
          <p:cNvPr id="26" name="Rectangle: Rounded Corners 118">
            <a:extLst>
              <a:ext uri="{FF2B5EF4-FFF2-40B4-BE49-F238E27FC236}">
                <a16:creationId xmlns:a16="http://schemas.microsoft.com/office/drawing/2014/main" id="{AA056DA8-9DDD-89F2-2E32-54724B129C50}"/>
              </a:ext>
            </a:extLst>
          </p:cNvPr>
          <p:cNvSpPr/>
          <p:nvPr/>
        </p:nvSpPr>
        <p:spPr>
          <a:xfrm>
            <a:off x="4991713" y="38156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Established footprint in high-compliance markets (USA, EU)</a:t>
            </a:r>
            <a:r>
              <a:rPr lang="en-IN" sz="1200" dirty="0">
                <a:solidFill>
                  <a:schemeClr val="tx1"/>
                </a:solidFill>
              </a:rPr>
              <a:t>  - ~70% of revenue derived from exports; fully REACH compliant for European customers.</a:t>
            </a:r>
            <a:endParaRPr lang="en-US" sz="1200" i="1" dirty="0">
              <a:solidFill>
                <a:schemeClr val="tx1"/>
              </a:solidFill>
              <a:latin typeface="Univers for KPMG" panose="020B0603020202020204"/>
            </a:endParaRPr>
          </a:p>
        </p:txBody>
      </p:sp>
      <p:grpSp>
        <p:nvGrpSpPr>
          <p:cNvPr id="27" name="Group 26">
            <a:extLst>
              <a:ext uri="{FF2B5EF4-FFF2-40B4-BE49-F238E27FC236}">
                <a16:creationId xmlns:a16="http://schemas.microsoft.com/office/drawing/2014/main" id="{743BED5A-787E-3AF1-4CBD-FAB6945223CB}"/>
              </a:ext>
            </a:extLst>
          </p:cNvPr>
          <p:cNvGrpSpPr/>
          <p:nvPr/>
        </p:nvGrpSpPr>
        <p:grpSpPr>
          <a:xfrm>
            <a:off x="4049348" y="3840811"/>
            <a:ext cx="604562" cy="604562"/>
            <a:chOff x="619309" y="978224"/>
            <a:chExt cx="604562" cy="604562"/>
          </a:xfrm>
        </p:grpSpPr>
        <p:sp>
          <p:nvSpPr>
            <p:cNvPr id="28" name="Oval 27">
              <a:extLst>
                <a:ext uri="{FF2B5EF4-FFF2-40B4-BE49-F238E27FC236}">
                  <a16:creationId xmlns:a16="http://schemas.microsoft.com/office/drawing/2014/main" id="{AF39A5CD-F195-FB7B-FCA8-757705336804}"/>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9" name="Graphic 28" descr="Earth globe: Africa and Europe with solid fill">
              <a:extLst>
                <a:ext uri="{FF2B5EF4-FFF2-40B4-BE49-F238E27FC236}">
                  <a16:creationId xmlns:a16="http://schemas.microsoft.com/office/drawing/2014/main" id="{19F7AA53-92F8-47B0-099E-A86FEFBDEA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663511" y="1022426"/>
              <a:ext cx="516155" cy="516155"/>
            </a:xfrm>
            <a:prstGeom prst="rect">
              <a:avLst/>
            </a:prstGeom>
          </p:spPr>
        </p:pic>
      </p:grpSp>
      <p:sp>
        <p:nvSpPr>
          <p:cNvPr id="30" name="Rectangle: Rounded Corners 119">
            <a:extLst>
              <a:ext uri="{FF2B5EF4-FFF2-40B4-BE49-F238E27FC236}">
                <a16:creationId xmlns:a16="http://schemas.microsoft.com/office/drawing/2014/main" id="{3808DAB5-A5B1-E548-CF39-80DAB7CD0D4E}"/>
              </a:ext>
            </a:extLst>
          </p:cNvPr>
          <p:cNvSpPr/>
          <p:nvPr/>
        </p:nvSpPr>
        <p:spPr>
          <a:xfrm>
            <a:off x="4991713" y="4784012"/>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Superior financial profile with industry-leading return ratios</a:t>
            </a:r>
            <a:r>
              <a:rPr lang="en-IN" sz="1200" dirty="0">
                <a:solidFill>
                  <a:schemeClr val="tx1"/>
                </a:solidFill>
              </a:rPr>
              <a:t> - Delivered 18% Revenue CAGR (FY20-24), projected to cross </a:t>
            </a:r>
            <a:r>
              <a:rPr lang="en-IN" sz="1200" b="1" dirty="0">
                <a:solidFill>
                  <a:schemeClr val="tx1"/>
                </a:solidFill>
              </a:rPr>
              <a:t>USD 130 Mn turnover</a:t>
            </a:r>
            <a:r>
              <a:rPr lang="en-IN" sz="1200" dirty="0">
                <a:solidFill>
                  <a:schemeClr val="tx1"/>
                </a:solidFill>
              </a:rPr>
              <a:t> by FY28 with sustainable EBITDA margins of ~20%.</a:t>
            </a:r>
            <a:endParaRPr lang="en-US" sz="1200" i="1" dirty="0">
              <a:solidFill>
                <a:schemeClr val="tx1"/>
              </a:solidFill>
              <a:latin typeface="Univers for KPMG" panose="020B0603020202020204"/>
            </a:endParaRPr>
          </a:p>
        </p:txBody>
      </p:sp>
      <p:grpSp>
        <p:nvGrpSpPr>
          <p:cNvPr id="31" name="Group 30">
            <a:extLst>
              <a:ext uri="{FF2B5EF4-FFF2-40B4-BE49-F238E27FC236}">
                <a16:creationId xmlns:a16="http://schemas.microsoft.com/office/drawing/2014/main" id="{B242A70F-8170-E7BF-E18E-3D395CD4C79D}"/>
              </a:ext>
            </a:extLst>
          </p:cNvPr>
          <p:cNvGrpSpPr/>
          <p:nvPr/>
        </p:nvGrpSpPr>
        <p:grpSpPr>
          <a:xfrm>
            <a:off x="4049348" y="4809165"/>
            <a:ext cx="604562" cy="604562"/>
            <a:chOff x="4101677" y="4870517"/>
            <a:chExt cx="604562" cy="604562"/>
          </a:xfrm>
        </p:grpSpPr>
        <p:sp>
          <p:nvSpPr>
            <p:cNvPr id="32" name="Oval 31">
              <a:extLst>
                <a:ext uri="{FF2B5EF4-FFF2-40B4-BE49-F238E27FC236}">
                  <a16:creationId xmlns:a16="http://schemas.microsoft.com/office/drawing/2014/main" id="{BD53F8C8-30C2-50F3-2032-94C3782E5D81}"/>
                </a:ext>
              </a:extLst>
            </p:cNvPr>
            <p:cNvSpPr/>
            <p:nvPr/>
          </p:nvSpPr>
          <p:spPr>
            <a:xfrm>
              <a:off x="4101677" y="4870517"/>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33" name="Graphic 32" descr="Bar graph with upward trend with solid fill">
              <a:extLst>
                <a:ext uri="{FF2B5EF4-FFF2-40B4-BE49-F238E27FC236}">
                  <a16:creationId xmlns:a16="http://schemas.microsoft.com/office/drawing/2014/main" id="{C6AB77C7-B165-5332-9EE4-2AD2BFA370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145879" y="4914719"/>
              <a:ext cx="516155" cy="516155"/>
            </a:xfrm>
            <a:prstGeom prst="rect">
              <a:avLst/>
            </a:prstGeom>
          </p:spPr>
        </p:pic>
      </p:grpSp>
      <p:cxnSp>
        <p:nvCxnSpPr>
          <p:cNvPr id="34" name="Connector: Elbow 148">
            <a:extLst>
              <a:ext uri="{FF2B5EF4-FFF2-40B4-BE49-F238E27FC236}">
                <a16:creationId xmlns:a16="http://schemas.microsoft.com/office/drawing/2014/main" id="{BED32E6B-471B-9D7C-066C-0C7715311B20}"/>
              </a:ext>
            </a:extLst>
          </p:cNvPr>
          <p:cNvCxnSpPr>
            <a:cxnSpLocks/>
            <a:stCxn id="6" idx="6"/>
            <a:endCxn id="28" idx="2"/>
          </p:cNvCxnSpPr>
          <p:nvPr/>
        </p:nvCxnSpPr>
        <p:spPr>
          <a:xfrm>
            <a:off x="3442315" y="3280259"/>
            <a:ext cx="607033" cy="862833"/>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51">
            <a:extLst>
              <a:ext uri="{FF2B5EF4-FFF2-40B4-BE49-F238E27FC236}">
                <a16:creationId xmlns:a16="http://schemas.microsoft.com/office/drawing/2014/main" id="{DBE4C6A1-1803-1C83-F9CF-25A23947E8B9}"/>
              </a:ext>
            </a:extLst>
          </p:cNvPr>
          <p:cNvCxnSpPr>
            <a:cxnSpLocks/>
          </p:cNvCxnSpPr>
          <p:nvPr/>
        </p:nvCxnSpPr>
        <p:spPr>
          <a:xfrm flipV="1">
            <a:off x="3442314" y="3189978"/>
            <a:ext cx="607034" cy="93265"/>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F045745-762D-3EBA-A2B0-A4959BA4BCE3}"/>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39" name="Picture 38" descr="A white letter on a black background&#10;&#10;AI-generated content may be incorrect.">
            <a:extLst>
              <a:ext uri="{FF2B5EF4-FFF2-40B4-BE49-F238E27FC236}">
                <a16:creationId xmlns:a16="http://schemas.microsoft.com/office/drawing/2014/main" id="{12920533-ABE5-08D3-EDF1-E02A5848DF94}"/>
              </a:ext>
            </a:extLst>
          </p:cNvPr>
          <p:cNvPicPr>
            <a:picLocks noChangeAspect="1"/>
          </p:cNvPicPr>
          <p:nvPr/>
        </p:nvPicPr>
        <p:blipFill>
          <a:blip r:embed="rId13"/>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32666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DAA238-C132-454F-09AF-7E7B5D790AC4}"/>
              </a:ext>
            </a:extLst>
          </p:cNvPr>
          <p:cNvSpPr/>
          <p:nvPr/>
        </p:nvSpPr>
        <p:spPr>
          <a:xfrm>
            <a:off x="0" y="0"/>
            <a:ext cx="12192000"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8E5C789-D800-0E28-B6FE-9277F1076D60}"/>
              </a:ext>
            </a:extLst>
          </p:cNvPr>
          <p:cNvSpPr txBox="1"/>
          <p:nvPr/>
        </p:nvSpPr>
        <p:spPr>
          <a:xfrm>
            <a:off x="421341" y="1735576"/>
            <a:ext cx="11349318" cy="2339102"/>
          </a:xfrm>
          <a:prstGeom prst="rect">
            <a:avLst/>
          </a:prstGeom>
          <a:noFill/>
        </p:spPr>
        <p:txBody>
          <a:bodyPr wrap="square">
            <a:spAutoFit/>
          </a:bodyPr>
          <a:lstStyle/>
          <a:p>
            <a:pPr algn="just"/>
            <a:r>
              <a:rPr lang="en-IN" sz="3200" dirty="0">
                <a:solidFill>
                  <a:schemeClr val="bg1"/>
                </a:solidFill>
              </a:rPr>
              <a:t>Important Notice &amp; </a:t>
            </a:r>
            <a:r>
              <a:rPr lang="en-US" sz="3200" dirty="0">
                <a:solidFill>
                  <a:schemeClr val="bg1"/>
                </a:solidFill>
                <a:latin typeface="Calibri" panose="020F0502020204030204" pitchFamily="34" charset="0"/>
                <a:cs typeface="Calibri" panose="020F0502020204030204" pitchFamily="34" charset="0"/>
              </a:rPr>
              <a:t>Disclaimer</a:t>
            </a:r>
            <a:endParaRPr lang="en-US" sz="1800" dirty="0">
              <a:solidFill>
                <a:schemeClr val="bg1"/>
              </a:solidFill>
              <a:latin typeface="Calibri" panose="020F0502020204030204" pitchFamily="34" charset="0"/>
              <a:cs typeface="Calibri" panose="020F0502020204030204" pitchFamily="34" charset="0"/>
            </a:endParaRPr>
          </a:p>
          <a:p>
            <a:pPr algn="just"/>
            <a:endParaRPr lang="en-US" sz="1800" b="0" dirty="0">
              <a:solidFill>
                <a:schemeClr val="bg1"/>
              </a:solidFill>
              <a:latin typeface="Calibri" panose="020F0502020204030204" pitchFamily="34" charset="0"/>
              <a:cs typeface="Calibri" panose="020F0502020204030204" pitchFamily="34" charset="0"/>
            </a:endParaRPr>
          </a:p>
          <a:p>
            <a:pPr algn="just"/>
            <a:r>
              <a:rPr lang="en-IN" sz="1600" b="1" dirty="0">
                <a:solidFill>
                  <a:schemeClr val="bg1"/>
                </a:solidFill>
              </a:rPr>
              <a:t>Strictly Private &amp; Confidential.</a:t>
            </a:r>
            <a:r>
              <a:rPr lang="en-IN" sz="1600" dirty="0">
                <a:solidFill>
                  <a:schemeClr val="bg1"/>
                </a:solidFill>
              </a:rPr>
              <a:t> This presentation is prepared by </a:t>
            </a:r>
            <a:r>
              <a:rPr lang="en-IN" sz="1600" b="1" dirty="0">
                <a:solidFill>
                  <a:schemeClr val="bg1"/>
                </a:solidFill>
              </a:rPr>
              <a:t>Kelp Global</a:t>
            </a:r>
            <a:r>
              <a:rPr lang="en-IN" sz="1600" dirty="0">
                <a:solidFill>
                  <a:schemeClr val="bg1"/>
                </a:solidFill>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600" b="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DAB51DF-1E44-87DF-7A87-C5506EAD501D}"/>
              </a:ext>
            </a:extLst>
          </p:cNvPr>
          <p:cNvSpPr txBox="1"/>
          <p:nvPr/>
        </p:nvSpPr>
        <p:spPr>
          <a:xfrm>
            <a:off x="3882396" y="6508582"/>
            <a:ext cx="6128746" cy="246221"/>
          </a:xfrm>
          <a:prstGeom prst="rect">
            <a:avLst/>
          </a:prstGeom>
          <a:noFill/>
        </p:spPr>
        <p:txBody>
          <a:bodyPr wrap="square">
            <a:spAutoFit/>
          </a:bodyPr>
          <a:lstStyle/>
          <a:p>
            <a:r>
              <a:rPr lang="en-IN" sz="1000" b="0" dirty="0">
                <a:solidFill>
                  <a:schemeClr val="bg1"/>
                </a:solidFill>
                <a:latin typeface="Arial"/>
              </a:rPr>
              <a:t>Strictly Private &amp; Confidential – Prepared by Kelp M&amp;A Team</a:t>
            </a:r>
            <a:endParaRPr lang="en-US" sz="10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05372E9D-084E-73CB-B9BE-BEF5B3ECE84A}"/>
              </a:ext>
            </a:extLst>
          </p:cNvPr>
          <p:cNvPicPr>
            <a:picLocks noChangeAspect="1"/>
          </p:cNvPicPr>
          <p:nvPr/>
        </p:nvPicPr>
        <p:blipFill>
          <a:blip r:embed="rId2"/>
          <a:stretch>
            <a:fillRect/>
          </a:stretch>
        </p:blipFill>
        <p:spPr>
          <a:xfrm>
            <a:off x="563016" y="703074"/>
            <a:ext cx="1911873" cy="726707"/>
          </a:xfrm>
          <a:prstGeom prst="rect">
            <a:avLst/>
          </a:prstGeom>
        </p:spPr>
      </p:pic>
    </p:spTree>
    <p:extLst>
      <p:ext uri="{BB962C8B-B14F-4D97-AF65-F5344CB8AC3E}">
        <p14:creationId xmlns:p14="http://schemas.microsoft.com/office/powerpoint/2010/main" val="644220761"/>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Layout Index 0</a:t>
            </a:r>
          </a:p>
        </p:txBody>
      </p:sp>
      <p:sp>
        <p:nvSpPr>
          <p:cNvPr id="3" name="Subtitle 2"/>
          <p:cNvSpPr>
            <a:spLocks noGrp="1"/>
          </p:cNvSpPr>
          <p:nvPr>
            <p:ph type="subTitle" idx="1"/>
          </p:nvPr>
        </p:nvSpPr>
        <p:spPr/>
        <p:txBody>
          <a:bodyPr/>
          <a:lstStyle/>
          <a:p>
            <a:r>
              <a:t>This is Body Text for Layout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1</a:t>
            </a:r>
          </a:p>
        </p:txBody>
      </p:sp>
      <p:sp>
        <p:nvSpPr>
          <p:cNvPr id="3" name="Content Placeholder 2"/>
          <p:cNvSpPr>
            <a:spLocks noGrp="1"/>
          </p:cNvSpPr>
          <p:nvPr>
            <p:ph idx="1"/>
          </p:nvPr>
        </p:nvSpPr>
        <p:spPr/>
        <p:txBody>
          <a:bodyPr/>
          <a:lstStyle/>
          <a:p>
            <a:r>
              <a:t>This is Body Text for Layout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2</a:t>
            </a:r>
          </a:p>
        </p:txBody>
      </p:sp>
      <p:sp>
        <p:nvSpPr>
          <p:cNvPr id="3" name="Text Placeholder 2"/>
          <p:cNvSpPr>
            <a:spLocks noGrp="1"/>
          </p:cNvSpPr>
          <p:nvPr>
            <p:ph type="body" idx="1"/>
          </p:nvPr>
        </p:nvSpPr>
        <p:spPr/>
        <p:txBody>
          <a:bodyPr/>
          <a:lstStyle/>
          <a:p>
            <a:r>
              <a:t>This is Body Text for Layout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3</a:t>
            </a:r>
          </a:p>
        </p:txBody>
      </p:sp>
      <p:sp>
        <p:nvSpPr>
          <p:cNvPr id="3" name="Content Placeholder 2"/>
          <p:cNvSpPr>
            <a:spLocks noGrp="1"/>
          </p:cNvSpPr>
          <p:nvPr>
            <p:ph idx="1" sz="half"/>
          </p:nvPr>
        </p:nvSpPr>
        <p:spPr/>
        <p:txBody>
          <a:bodyPr/>
          <a:lstStyle/>
          <a:p>
            <a:r>
              <a:t>This is Body Text for Layout 3</a:t>
            </a:r>
          </a:p>
        </p:txBody>
      </p:sp>
      <p:sp>
        <p:nvSpPr>
          <p:cNvPr id="4" name="Content Placeholder 3"/>
          <p:cNvSpPr>
            <a:spLocks noGrp="1"/>
          </p:cNvSpPr>
          <p:nvPr>
            <p:ph idx="2" sz="half"/>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4</a:t>
            </a:r>
          </a:p>
        </p:txBody>
      </p:sp>
      <p:sp>
        <p:nvSpPr>
          <p:cNvPr id="3" name="Text Placeholder 2"/>
          <p:cNvSpPr>
            <a:spLocks noGrp="1"/>
          </p:cNvSpPr>
          <p:nvPr>
            <p:ph type="body" idx="1"/>
          </p:nvPr>
        </p:nvSpPr>
        <p:spPr/>
        <p:txBody>
          <a:bodyPr/>
          <a:lstStyle/>
          <a:p>
            <a:r>
              <a:t>This is Body Text for Layout 4</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7</a:t>
            </a:r>
          </a:p>
        </p:txBody>
      </p:sp>
      <p:sp>
        <p:nvSpPr>
          <p:cNvPr id="3" name="Content Placeholder 2"/>
          <p:cNvSpPr>
            <a:spLocks noGrp="1"/>
          </p:cNvSpPr>
          <p:nvPr>
            <p:ph idx="1"/>
          </p:nvPr>
        </p:nvSpPr>
        <p:spPr/>
        <p:txBody>
          <a:bodyPr/>
          <a:lstStyle/>
          <a:p>
            <a:r>
              <a:t>This is Body Text for Layout 7</a:t>
            </a:r>
          </a:p>
        </p:txBody>
      </p:sp>
      <p:sp>
        <p:nvSpPr>
          <p:cNvPr id="4" name="Text Placeholder 3"/>
          <p:cNvSpPr>
            <a:spLocks noGrp="1"/>
          </p:cNvSpPr>
          <p:nvPr>
            <p:ph type="body" idx="2" sz="half"/>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8</a:t>
            </a:r>
          </a:p>
        </p:txBody>
      </p:sp>
      <p:sp>
        <p:nvSpPr>
          <p:cNvPr id="3" name="Picture Placeholder 2"/>
          <p:cNvSpPr>
            <a:spLocks noGrp="1"/>
          </p:cNvSpPr>
          <p:nvPr>
            <p:ph type="pic" idx="1"/>
          </p:nvPr>
        </p:nvSpPr>
        <p:spPr/>
        <p:txBody>
          <a:bodyPr/>
          <a:p>
            <a:r>
              <a:t>This is Body Text for Layout 8</a:t>
            </a:r>
          </a:p>
        </p:txBody>
      </p:sp>
      <p:sp>
        <p:nvSpPr>
          <p:cNvPr id="4" name="Text Placeholder 3"/>
          <p:cNvSpPr>
            <a:spLocks noGrp="1"/>
          </p:cNvSpPr>
          <p:nvPr>
            <p:ph type="body" idx="2" sz="half"/>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Index 9</a:t>
            </a:r>
          </a:p>
        </p:txBody>
      </p:sp>
      <p:sp>
        <p:nvSpPr>
          <p:cNvPr id="3" name="Vertical Text Placeholder 2"/>
          <p:cNvSpPr>
            <a:spLocks noGrp="1"/>
          </p:cNvSpPr>
          <p:nvPr>
            <p:ph type="body" idx="1" orient="vert"/>
          </p:nvPr>
        </p:nvSpPr>
        <p:spPr/>
        <p:txBody>
          <a:bodyPr/>
          <a:lstStyle/>
          <a:p>
            <a:r>
              <a:t>This is Body Text for Layout 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ertical Title 1"/>
          <p:cNvSpPr>
            <a:spLocks noGrp="1"/>
          </p:cNvSpPr>
          <p:nvPr>
            <p:ph type="title" orient="vert"/>
          </p:nvPr>
        </p:nvSpPr>
        <p:spPr/>
        <p:txBody>
          <a:bodyPr/>
          <a:lstStyle/>
          <a:p>
            <a:r>
              <a:t>Layout Index 10</a:t>
            </a:r>
          </a:p>
        </p:txBody>
      </p:sp>
      <p:sp>
        <p:nvSpPr>
          <p:cNvPr id="3" name="Vertical Text Placeholder 2"/>
          <p:cNvSpPr>
            <a:spLocks noGrp="1"/>
          </p:cNvSpPr>
          <p:nvPr>
            <p:ph type="body" idx="1" orient="vert"/>
          </p:nvPr>
        </p:nvSpPr>
        <p:spPr/>
        <p:txBody>
          <a:bodyPr/>
          <a:lstStyle/>
          <a:p>
            <a:r>
              <a:t>This is Body Text for Layout 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2.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3.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762</Words>
  <Application>Microsoft Macintosh PowerPoint</Application>
  <PresentationFormat>Widescreen</PresentationFormat>
  <Paragraphs>76</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Aptos Display</vt:lpstr>
      <vt:lpstr>Arial</vt:lpstr>
      <vt:lpstr>Calibri</vt:lpstr>
      <vt:lpstr>KPMG Extralight</vt:lpstr>
      <vt:lpstr>Univers for KPMG</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Masirkar</dc:creator>
  <cp:lastModifiedBy>Akash Masirkar</cp:lastModifiedBy>
  <cp:revision>4</cp:revision>
  <dcterms:created xsi:type="dcterms:W3CDTF">2025-12-09T06:32:58Z</dcterms:created>
  <dcterms:modified xsi:type="dcterms:W3CDTF">2025-12-09T09:34:22Z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6a7595-482c-4aab-9350-e116d929b5f6_Enabled">
    <vt:lpwstr>true</vt:lpwstr>
  </property>
  <property fmtid="{D5CDD505-2E9C-101B-9397-08002B2CF9AE}" pid="3" name="MSIP_Label_8a6a7595-482c-4aab-9350-e116d929b5f6_SetDate">
    <vt:lpwstr>2025-12-09T09:06:55Z</vt:lpwstr>
  </property>
  <property fmtid="{D5CDD505-2E9C-101B-9397-08002B2CF9AE}" pid="4" name="MSIP_Label_8a6a7595-482c-4aab-9350-e116d929b5f6_Method">
    <vt:lpwstr>Standard</vt:lpwstr>
  </property>
  <property fmtid="{D5CDD505-2E9C-101B-9397-08002B2CF9AE}" pid="5" name="MSIP_Label_8a6a7595-482c-4aab-9350-e116d929b5f6_Name">
    <vt:lpwstr>General</vt:lpwstr>
  </property>
  <property fmtid="{D5CDD505-2E9C-101B-9397-08002B2CF9AE}" pid="6" name="MSIP_Label_8a6a7595-482c-4aab-9350-e116d929b5f6_SiteId">
    <vt:lpwstr>311834f4-5f64-42d1-956a-590577219596</vt:lpwstr>
  </property>
  <property fmtid="{D5CDD505-2E9C-101B-9397-08002B2CF9AE}" pid="7" name="MSIP_Label_8a6a7595-482c-4aab-9350-e116d929b5f6_ActionId">
    <vt:lpwstr>5fd6f838-265f-4782-b68b-5139c9603eea</vt:lpwstr>
  </property>
  <property fmtid="{D5CDD505-2E9C-101B-9397-08002B2CF9AE}" pid="8" name="MSIP_Label_8a6a7595-482c-4aab-9350-e116d929b5f6_ContentBits">
    <vt:lpwstr>0</vt:lpwstr>
  </property>
  <property fmtid="{D5CDD505-2E9C-101B-9397-08002B2CF9AE}" pid="9" name="MSIP_Label_8a6a7595-482c-4aab-9350-e116d929b5f6_Tag">
    <vt:lpwstr>50, 3, 0, 1</vt:lpwstr>
  </property>
</Properties>
</file>