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04B"/>
        </a:solidFill>
        <a:effectLst/>
      </p:bgPr>
    </p:bg>
    <p:spTree>
      <p:nvGrpSpPr>
        <p:cNvPr id="1" name=""/>
        <p:cNvGrpSpPr/>
        <p:nvPr/>
      </p:nvGrpSpPr>
      <p:grpSpPr/>
      <p:sp>
        <p:nvSpPr>
          <p:cNvPr id="2" name="Right Triangle 1"/>
          <p:cNvSpPr/>
          <p:nvPr/>
        </p:nvSpPr>
        <p:spPr>
          <a:xfrm>
            <a:off x="5943600" y="0"/>
            <a:ext cx="3200400" cy="6858000"/>
          </a:xfrm>
          <a:prstGeom prst="rtTriangl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0" y="457200"/>
            <a:ext cx="1828800" cy="457200"/>
          </a:xfrm>
          <a:prstGeom prst="rect">
            <a:avLst/>
          </a:prstGeom>
          <a:noFill/>
        </p:spPr>
        <p:txBody>
          <a:bodyPr wrap="none">
            <a:spAutoFit/>
          </a:bodyPr>
          <a:lstStyle/>
          <a:p>
            <a:pPr algn="r">
              <a:defRPr b="1" sz="1800">
                <a:solidFill>
                  <a:srgbClr val="FFFFFF"/>
                </a:solidFill>
                <a:latin typeface="Arial"/>
              </a:defRPr>
            </a:pPr>
            <a:r>
              <a:t>KELP</a:t>
            </a:r>
          </a:p>
        </p:txBody>
      </p:sp>
      <p:sp>
        <p:nvSpPr>
          <p:cNvPr id="4" name="TextBox 3"/>
          <p:cNvSpPr txBox="1"/>
          <p:nvPr/>
        </p:nvSpPr>
        <p:spPr>
          <a:xfrm>
            <a:off x="914400" y="2743200"/>
            <a:ext cx="5486400" cy="1828800"/>
          </a:xfrm>
          <a:prstGeom prst="rect">
            <a:avLst/>
          </a:prstGeom>
          <a:noFill/>
        </p:spPr>
        <p:txBody>
          <a:bodyPr wrap="none">
            <a:spAutoFit/>
          </a:bodyPr>
          <a:lstStyle/>
          <a:p>
            <a:pPr>
              <a:defRPr b="1" sz="4400">
                <a:solidFill>
                  <a:srgbClr val="FFFFFF"/>
                </a:solidFill>
                <a:latin typeface="Arial"/>
              </a:defRPr>
            </a:pPr>
            <a:r>
              <a:t>Project Apex</a:t>
            </a:r>
            <a:br/>
            <a:r>
              <a:t>Investment Opportunity</a:t>
            </a:r>
          </a:p>
        </p:txBody>
      </p:sp>
      <p:sp>
        <p:nvSpPr>
          <p:cNvPr id="5" name="TextBox 4"/>
          <p:cNvSpPr txBox="1"/>
          <p:nvPr/>
        </p:nvSpPr>
        <p:spPr>
          <a:xfrm>
            <a:off x="914400" y="4572000"/>
            <a:ext cx="4572000" cy="914400"/>
          </a:xfrm>
          <a:prstGeom prst="rect">
            <a:avLst/>
          </a:prstGeom>
          <a:noFill/>
        </p:spPr>
        <p:txBody>
          <a:bodyPr wrap="none">
            <a:spAutoFit/>
          </a:bodyPr>
          <a:lstStyle/>
          <a:p>
            <a:pPr>
              <a:defRPr sz="1400">
                <a:solidFill>
                  <a:srgbClr val="FF6450"/>
                </a:solidFill>
                <a:latin typeface="Arial"/>
              </a:defRPr>
            </a:pPr>
            <a:r>
              <a:t>Strictly Private &amp; Confidential – Prepared by Kelp M&amp;A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BALANCE SHEET ANALYSIS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cash balance has shown significant fluctuations over time.</a:t>
            </a:r>
          </a:p>
          <a:p>
            <a:pPr>
              <a:spcAft>
                <a:spcPts val="1200"/>
              </a:spcAft>
              <a:defRPr sz="1100">
                <a:solidFill>
                  <a:srgbClr val="3C3C3C"/>
                </a:solidFill>
                <a:latin typeface="Arial"/>
              </a:defRPr>
            </a:pPr>
            <a:r>
              <a:t>■ Total assets have been relatively stable, with minor increases observed from 2024 to 2025.</a:t>
            </a:r>
          </a:p>
          <a:p>
            <a:pPr>
              <a:spcAft>
                <a:spcPts val="1200"/>
              </a:spcAft>
              <a:defRPr sz="1100">
                <a:solidFill>
                  <a:srgbClr val="3C3C3C"/>
                </a:solidFill>
                <a:latin typeface="Arial"/>
              </a:defRPr>
            </a:pPr>
            <a:r>
              <a:t>■ Current liabilities and equity components show a consistent growth trend over the years.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INCOME STATEMENT ANALYSIS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Revenue has shown a steady growth trend over the years.</a:t>
            </a:r>
          </a:p>
          <a:p>
            <a:pPr>
              <a:spcAft>
                <a:spcPts val="1200"/>
              </a:spcAft>
              <a:defRPr sz="1100">
                <a:solidFill>
                  <a:srgbClr val="3C3C3C"/>
                </a:solidFill>
                <a:latin typeface="Arial"/>
              </a:defRPr>
            </a:pPr>
            <a:r>
              <a:t>■ Operating profit (EBIT) and net profit margins have varied significantly, with negative values in 2015 and positive from 2017 onwards.</a:t>
            </a:r>
          </a:p>
          <a:p>
            <a:pPr>
              <a:spcAft>
                <a:spcPts val="1200"/>
              </a:spcAft>
              <a:defRPr sz="1100">
                <a:solidFill>
                  <a:srgbClr val="3C3C3C"/>
                </a:solidFill>
                <a:latin typeface="Arial"/>
              </a:defRPr>
            </a:pPr>
            <a:r>
              <a:t>■ Gross margin has been relatively stable over the years.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FINANCIAL RATIOS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Return on Equity (ROE) has shown significant fluctuations.</a:t>
            </a:r>
          </a:p>
          <a:p>
            <a:pPr>
              <a:spcAft>
                <a:spcPts val="1200"/>
              </a:spcAft>
              <a:defRPr sz="1100">
                <a:solidFill>
                  <a:srgbClr val="3C3C3C"/>
                </a:solidFill>
                <a:latin typeface="Arial"/>
              </a:defRPr>
            </a:pPr>
            <a:r>
              <a:t>■ Asset turnover and Net Debt to EBITDA ratio have increased significantly over the years, indicating higher leverage.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914400"/>
          </a:xfrm>
          <a:prstGeom prst="rect">
            <a:avLst/>
          </a:prstGeom>
          <a:noFill/>
        </p:spPr>
        <p:txBody>
          <a:bodyPr wrap="none">
            <a:spAutoFit/>
          </a:bodyPr>
          <a:lstStyle/>
          <a:p>
            <a:pPr>
              <a:defRPr b="1" sz="2400">
                <a:solidFill>
                  <a:srgbClr val="2E004B"/>
                </a:solidFill>
                <a:latin typeface="Arial"/>
              </a:defRPr>
            </a:pPr>
            <a:r>
              <a:t>Disclaimer</a:t>
            </a:r>
          </a:p>
        </p:txBody>
      </p:sp>
      <p:cxnSp>
        <p:nvCxnSpPr>
          <p:cNvPr id="3" name="Connector 2"/>
          <p:cNvCxnSpPr/>
          <p:nvPr/>
        </p:nvCxnSpPr>
        <p:spPr>
          <a:xfrm>
            <a:off x="457200" y="1097280"/>
            <a:ext cx="8229600" cy="0"/>
          </a:xfrm>
          <a:prstGeom prst="line">
            <a:avLst/>
          </a:prstGeom>
          <a:ln w="25400">
            <a:solidFill>
              <a:srgbClr val="FF645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71600"/>
            <a:ext cx="8229600" cy="4572000"/>
          </a:xfrm>
          <a:prstGeom prst="rect">
            <a:avLst/>
          </a:prstGeom>
          <a:noFill/>
        </p:spPr>
        <p:txBody>
          <a:bodyPr wrap="square">
            <a:spAutoFit/>
          </a:bodyPr>
          <a:lstStyle/>
          <a:p>
            <a:pPr algn="just">
              <a:defRPr sz="1000">
                <a:solidFill>
                  <a:srgbClr val="3C3C3C"/>
                </a:solidFill>
                <a:latin typeface="Arial"/>
              </a:defRPr>
            </a:pPr>
            <a:r>
              <a:t>This presentation is strictly confidential and is being provided to you solely for your information. By accepting this presentation, you agree to keep it confidential and not to distribute it to any other person.</a:t>
            </a:r>
            <a:br/>
            <a:br/>
            <a:r>
              <a:t>This document does not constitute an offer to sell or a solicitation of an offer to buy any securities. The information contained herein has been obtained from sources believed to be reliable but is not guaranteed as to accuracy or completeness. Project Apex and Kelp M&amp;A Team make no representation or warranty regarding the accuracy of the information.</a:t>
            </a:r>
            <a:br/>
            <a:br/>
            <a:r>
              <a:t>This presentation may contain forward-looking statements that involve risks and uncertainties. Actual results may differ materially from those projected.</a:t>
            </a:r>
          </a:p>
        </p:txBody>
      </p: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