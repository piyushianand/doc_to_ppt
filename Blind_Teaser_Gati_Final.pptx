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b="1">
                <a:latin typeface="Arial"/>
              </a:defRPr>
            </a:pPr>
            <a:r>
              <a:t>Revenue Trend</a:t>
            </a:r>
          </a:p>
        </c:rich>
      </c:tx>
      <c:layout/>
      <c:overlay val="0"/>
    </c:title>
    <c:autoTitleDeleted val="0"/>
    <c:plotArea>
      <c:barChart>
        <c:barDir val="col"/>
        <c:grouping val="clustered"/>
        <c:ser>
          <c:idx val="0"/>
          <c:order val="0"/>
          <c:tx>
            <c:strRef>
              <c:f>Sheet1!$B$1</c:f>
              <c:strCache>
                <c:ptCount val="1"/>
                <c:pt idx="0">
                  <c:v>Series 1</c:v>
                </c:pt>
              </c:strCache>
            </c:strRef>
          </c:tx>
          <c:cat>
            <c:strRef>
              <c:f>Sheet1!$A$2:$A$4</c:f>
              <c:strCache>
                <c:ptCount val="3"/>
                <c:pt idx="0">
                  <c:v>2019</c:v>
                </c:pt>
                <c:pt idx="1">
                  <c:v>2020</c:v>
                </c:pt>
                <c:pt idx="2">
                  <c:v>2021</c:v>
                </c:pt>
              </c:strCache>
            </c:strRef>
          </c:cat>
          <c:val>
            <c:numRef>
              <c:f>Sheet1!$B$2:$B$4</c:f>
              <c:numCache>
                <c:formatCode>General</c:formatCode>
                <c:ptCount val="3"/>
                <c:pt idx="0">
                  <c:v>123.4</c:v>
                </c:pt>
                <c:pt idx="1">
                  <c:v>156.7</c:v>
                </c:pt>
                <c:pt idx="2">
                  <c:v>189.2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004B"/>
        </a:solidFill>
        <a:effectLst/>
      </p:bgPr>
    </p:bg>
    <p:spTree>
      <p:nvGrpSpPr>
        <p:cNvPr id="1" name=""/>
        <p:cNvGrpSpPr/>
        <p:nvPr/>
      </p:nvGrpSpPr>
      <p:grpSpPr/>
      <p:sp>
        <p:nvSpPr>
          <p:cNvPr id="2" name="Right Triangle 1"/>
          <p:cNvSpPr/>
          <p:nvPr/>
        </p:nvSpPr>
        <p:spPr>
          <a:xfrm>
            <a:off x="5943600" y="0"/>
            <a:ext cx="3200400" cy="6858000"/>
          </a:xfrm>
          <a:prstGeom prst="rtTriangl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0" y="457200"/>
            <a:ext cx="1828800" cy="457200"/>
          </a:xfrm>
          <a:prstGeom prst="rect">
            <a:avLst/>
          </a:prstGeom>
          <a:noFill/>
        </p:spPr>
        <p:txBody>
          <a:bodyPr wrap="none">
            <a:spAutoFit/>
          </a:bodyPr>
          <a:lstStyle/>
          <a:p>
            <a:pPr algn="r">
              <a:defRPr b="1" sz="1800">
                <a:solidFill>
                  <a:srgbClr val="FFFFFF"/>
                </a:solidFill>
                <a:latin typeface="Arial"/>
              </a:defRPr>
            </a:pPr>
            <a:r>
              <a:t>KELP</a:t>
            </a:r>
          </a:p>
        </p:txBody>
      </p:sp>
      <p:sp>
        <p:nvSpPr>
          <p:cNvPr id="4" name="TextBox 3"/>
          <p:cNvSpPr txBox="1"/>
          <p:nvPr/>
        </p:nvSpPr>
        <p:spPr>
          <a:xfrm>
            <a:off x="914400" y="2743200"/>
            <a:ext cx="5486400" cy="1828800"/>
          </a:xfrm>
          <a:prstGeom prst="rect">
            <a:avLst/>
          </a:prstGeom>
          <a:noFill/>
        </p:spPr>
        <p:txBody>
          <a:bodyPr wrap="none">
            <a:spAutoFit/>
          </a:bodyPr>
          <a:lstStyle/>
          <a:p>
            <a:pPr>
              <a:defRPr b="1" sz="4400">
                <a:solidFill>
                  <a:srgbClr val="FFFFFF"/>
                </a:solidFill>
                <a:latin typeface="Arial"/>
              </a:defRPr>
            </a:pPr>
            <a:r>
              <a:t>Project Apex</a:t>
            </a:r>
            <a:br/>
            <a:r>
              <a:t>Investment Opportunity</a:t>
            </a:r>
          </a:p>
        </p:txBody>
      </p:sp>
      <p:sp>
        <p:nvSpPr>
          <p:cNvPr id="5" name="TextBox 4"/>
          <p:cNvSpPr txBox="1"/>
          <p:nvPr/>
        </p:nvSpPr>
        <p:spPr>
          <a:xfrm>
            <a:off x="914400" y="4572000"/>
            <a:ext cx="4572000" cy="914400"/>
          </a:xfrm>
          <a:prstGeom prst="rect">
            <a:avLst/>
          </a:prstGeom>
          <a:noFill/>
        </p:spPr>
        <p:txBody>
          <a:bodyPr wrap="none">
            <a:spAutoFit/>
          </a:bodyPr>
          <a:lstStyle/>
          <a:p>
            <a:pPr>
              <a:defRPr sz="1400">
                <a:solidFill>
                  <a:srgbClr val="FF6450"/>
                </a:solidFill>
                <a:latin typeface="Arial"/>
              </a:defRPr>
            </a:pPr>
            <a:r>
              <a:t>Strictly Private &amp; Confidential – Prepared by Kelp M&amp;A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BUSINESS PROFILE &amp; INFRASTRUCTURE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Gati Ltd Fundamental Company Report provides a complete overview of the company’s affairs.</a:t>
            </a:r>
          </a:p>
          <a:p>
            <a:pPr>
              <a:spcAft>
                <a:spcPts val="1200"/>
              </a:spcAft>
              <a:defRPr sz="1100">
                <a:solidFill>
                  <a:srgbClr val="3C3C3C"/>
                </a:solidFill>
                <a:latin typeface="Arial"/>
              </a:defRPr>
            </a:pPr>
            <a:r>
              <a:t>■ It discusses Gati's business segments, including coastal shipping and express distribution/supply chain services.</a:t>
            </a:r>
          </a:p>
          <a:p>
            <a:pPr>
              <a:spcAft>
                <a:spcPts val="1200"/>
              </a:spcAft>
              <a:defRPr sz="1100">
                <a:solidFill>
                  <a:srgbClr val="3C3C3C"/>
                </a:solidFill>
                <a:latin typeface="Arial"/>
              </a:defRPr>
            </a:pPr>
            <a:r>
              <a:t>■ Gati is a leading express distribution and supply chain solutions company in India.</a:t>
            </a:r>
          </a:p>
          <a:p>
            <a:pPr>
              <a:spcAft>
                <a:spcPts val="1200"/>
              </a:spcAft>
              <a:defRPr sz="1100">
                <a:solidFill>
                  <a:srgbClr val="3C3C3C"/>
                </a:solidFill>
                <a:latin typeface="Arial"/>
              </a:defRPr>
            </a:pPr>
            <a:r>
              <a:t>■ It outlines Gati's vision, strategy, and adoption of an asset-light business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FINANCIAL &amp; OPERATIONAL SCALE</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Revenue shows significant fluctuations with increases in 2018 and decreases or stability in other years.</a:t>
            </a:r>
          </a:p>
          <a:p>
            <a:pPr>
              <a:spcAft>
                <a:spcPts val="1200"/>
              </a:spcAft>
              <a:defRPr sz="1100">
                <a:solidFill>
                  <a:srgbClr val="3C3C3C"/>
                </a:solidFill>
                <a:latin typeface="Arial"/>
              </a:defRPr>
            </a:pPr>
            <a:r>
              <a:t>■ EBIT has a mixed trend, showing growth in some years and decline in others.</a:t>
            </a:r>
          </a:p>
          <a:p>
            <a:pPr>
              <a:spcAft>
                <a:spcPts val="1200"/>
              </a:spcAft>
              <a:defRPr sz="1100">
                <a:solidFill>
                  <a:srgbClr val="3C3C3C"/>
                </a:solidFill>
                <a:latin typeface="Arial"/>
              </a:defRPr>
            </a:pPr>
            <a:r>
              <a:t>■ PAT is volatile with positive values most years but significant negative margins in 2020, 2021, and 2023.</a:t>
            </a:r>
          </a:p>
        </p:txBody>
      </p:sp>
      <p:graphicFrame>
        <p:nvGraphicFramePr>
          <p:cNvPr id="7" name="Chart 6"/>
          <p:cNvGraphicFramePr>
            <a:graphicFrameLocks noGrp="1"/>
          </p:cNvGraphicFramePr>
          <p:nvPr/>
        </p:nvGraphicFramePr>
        <p:xfrm>
          <a:off x="5029200" y="1371600"/>
          <a:ext cx="3657600" cy="32004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0" y="182880"/>
            <a:ext cx="1371600" cy="457200"/>
          </a:xfrm>
          <a:prstGeom prst="rect">
            <a:avLst/>
          </a:prstGeom>
          <a:noFill/>
        </p:spPr>
        <p:txBody>
          <a:bodyPr wrap="none">
            <a:spAutoFit/>
          </a:bodyPr>
          <a:lstStyle/>
          <a:p>
            <a:pPr algn="r">
              <a:defRPr b="1" sz="1400">
                <a:solidFill>
                  <a:srgbClr val="2E004B"/>
                </a:solidFill>
                <a:latin typeface="Arial"/>
              </a:defRPr>
            </a:pPr>
            <a:r>
              <a:t>KELP</a:t>
            </a:r>
          </a:p>
        </p:txBody>
      </p:sp>
      <p:sp>
        <p:nvSpPr>
          <p:cNvPr id="3" name="TextBox 2"/>
          <p:cNvSpPr txBox="1"/>
          <p:nvPr/>
        </p:nvSpPr>
        <p:spPr>
          <a:xfrm>
            <a:off x="457200" y="365760"/>
            <a:ext cx="6858000" cy="731520"/>
          </a:xfrm>
          <a:prstGeom prst="rect">
            <a:avLst/>
          </a:prstGeom>
          <a:noFill/>
        </p:spPr>
        <p:txBody>
          <a:bodyPr wrap="none">
            <a:spAutoFit/>
          </a:bodyPr>
          <a:lstStyle/>
          <a:p>
            <a:pPr>
              <a:defRPr b="1" sz="2400">
                <a:solidFill>
                  <a:srgbClr val="2E004B"/>
                </a:solidFill>
                <a:latin typeface="Arial"/>
              </a:defRPr>
            </a:pPr>
            <a:r>
              <a:t>INVESTMENT HIGHLIGHTS</a:t>
            </a:r>
          </a:p>
        </p:txBody>
      </p:sp>
      <p:cxnSp>
        <p:nvCxnSpPr>
          <p:cNvPr id="4" name="Connector 3"/>
          <p:cNvCxnSpPr/>
          <p:nvPr/>
        </p:nvCxnSpPr>
        <p:spPr>
          <a:xfrm>
            <a:off x="457200" y="1005840"/>
            <a:ext cx="8229600" cy="0"/>
          </a:xfrm>
          <a:prstGeom prst="line">
            <a:avLst/>
          </a:prstGeom>
          <a:ln w="38100">
            <a:solidFill>
              <a:srgbClr val="FF645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
        <p:nvSpPr>
          <p:cNvPr id="6" name="TextBox 5"/>
          <p:cNvSpPr txBox="1"/>
          <p:nvPr/>
        </p:nvSpPr>
        <p:spPr>
          <a:xfrm>
            <a:off x="457200" y="1280160"/>
            <a:ext cx="4389120" cy="4572000"/>
          </a:xfrm>
          <a:prstGeom prst="rect">
            <a:avLst/>
          </a:prstGeom>
          <a:noFill/>
        </p:spPr>
        <p:txBody>
          <a:bodyPr wrap="square">
            <a:spAutoFit/>
          </a:bodyPr>
          <a:lstStyle/>
          <a:p/>
          <a:p>
            <a:pPr>
              <a:spcAft>
                <a:spcPts val="1200"/>
              </a:spcAft>
              <a:defRPr sz="1100">
                <a:solidFill>
                  <a:srgbClr val="3C3C3C"/>
                </a:solidFill>
                <a:latin typeface="Arial"/>
              </a:defRPr>
            </a:pPr>
            <a:r>
              <a:t>■ Consider diversifying revenue sources to mitigate market risks.</a:t>
            </a:r>
          </a:p>
          <a:p>
            <a:pPr>
              <a:spcAft>
                <a:spcPts val="1200"/>
              </a:spcAft>
              <a:defRPr sz="1100">
                <a:solidFill>
                  <a:srgbClr val="3C3C3C"/>
                </a:solidFill>
                <a:latin typeface="Arial"/>
              </a:defRPr>
            </a:pPr>
            <a:r>
              <a:t>■ Focus on cost management strategies during challenging years.</a:t>
            </a:r>
          </a:p>
          <a:p>
            <a:pPr>
              <a:spcAft>
                <a:spcPts val="1200"/>
              </a:spcAft>
              <a:defRPr sz="1100">
                <a:solidFill>
                  <a:srgbClr val="3C3C3C"/>
                </a:solidFill>
                <a:latin typeface="Arial"/>
              </a:defRPr>
            </a:pPr>
            <a:r>
              <a:t>■ Continue investment in technology and infrastructure for operational efficiency.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defRPr b="1" sz="2400">
                <a:solidFill>
                  <a:srgbClr val="2E004B"/>
                </a:solidFill>
                <a:latin typeface="Arial"/>
              </a:defRPr>
            </a:pPr>
            <a:r>
              <a:t>Disclaimer</a:t>
            </a:r>
          </a:p>
        </p:txBody>
      </p:sp>
      <p:cxnSp>
        <p:nvCxnSpPr>
          <p:cNvPr id="3" name="Connector 2"/>
          <p:cNvCxnSpPr/>
          <p:nvPr/>
        </p:nvCxnSpPr>
        <p:spPr>
          <a:xfrm>
            <a:off x="457200" y="1097280"/>
            <a:ext cx="8229600" cy="0"/>
          </a:xfrm>
          <a:prstGeom prst="line">
            <a:avLst/>
          </a:prstGeom>
          <a:ln w="25400">
            <a:solidFill>
              <a:srgbClr val="FF645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71600"/>
            <a:ext cx="8229600" cy="4572000"/>
          </a:xfrm>
          <a:prstGeom prst="rect">
            <a:avLst/>
          </a:prstGeom>
          <a:noFill/>
        </p:spPr>
        <p:txBody>
          <a:bodyPr wrap="square">
            <a:spAutoFit/>
          </a:bodyPr>
          <a:lstStyle/>
          <a:p>
            <a:pPr algn="just">
              <a:defRPr sz="1000">
                <a:solidFill>
                  <a:srgbClr val="3C3C3C"/>
                </a:solidFill>
                <a:latin typeface="Arial"/>
              </a:defRPr>
            </a:pPr>
            <a:r>
              <a:t>This presentation is strictly confidential and is being provided to you solely for your information. By accepting this presentation, you agree to keep it confidential and not to distribute it to any other person.</a:t>
            </a:r>
            <a:br/>
            <a:br/>
            <a:r>
              <a:t>This document does not constitute an offer to sell or a solicitation of an offer to buy any securities. The information contained herein has been obtained from sources believed to be reliable but is not guaranteed as to accuracy or completeness. Project Apex and Kelp M&amp;A Team make no representation or warranty regarding the accuracy of the information.</a:t>
            </a:r>
            <a:br/>
            <a:br/>
            <a:r>
              <a:t>This presentation may contain forward-looking statements that involve risks and uncertainties. Actual results may differ materially from those projected.</a:t>
            </a:r>
          </a:p>
        </p:txBody>
      </p:sp>
      <p:sp>
        <p:nvSpPr>
          <p:cNvPr id="5" name="TextBox 4"/>
          <p:cNvSpPr txBox="1"/>
          <p:nvPr/>
        </p:nvSpPr>
        <p:spPr>
          <a:xfrm>
            <a:off x="457200" y="6492240"/>
            <a:ext cx="8229600" cy="365760"/>
          </a:xfrm>
          <a:prstGeom prst="rect">
            <a:avLst/>
          </a:prstGeom>
          <a:noFill/>
        </p:spPr>
        <p:txBody>
          <a:bodyPr wrap="none">
            <a:spAutoFit/>
          </a:bodyPr>
          <a:lstStyle/>
          <a:p>
            <a:pPr algn="ctr">
              <a:defRPr sz="900">
                <a:solidFill>
                  <a:srgbClr val="969696"/>
                </a:solidFill>
                <a:latin typeface="Arial"/>
              </a:defRPr>
            </a:pPr>
            <a: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