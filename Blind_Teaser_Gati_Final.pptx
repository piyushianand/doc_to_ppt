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E004B"/>
        </a:solidFill>
        <a:effectLst/>
      </p:bgPr>
    </p:bg>
    <p:spTree>
      <p:nvGrpSpPr>
        <p:cNvPr id="1" name=""/>
        <p:cNvGrpSpPr/>
        <p:nvPr/>
      </p:nvGrpSpPr>
      <p:grpSpPr/>
      <p:sp>
        <p:nvSpPr>
          <p:cNvPr id="2" name="Right Triangle 1"/>
          <p:cNvSpPr/>
          <p:nvPr/>
        </p:nvSpPr>
        <p:spPr>
          <a:xfrm>
            <a:off x="5943600" y="0"/>
            <a:ext cx="3200400" cy="6858000"/>
          </a:xfrm>
          <a:prstGeom prst="rtTriangl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0" y="457200"/>
            <a:ext cx="1828800" cy="457200"/>
          </a:xfrm>
          <a:prstGeom prst="rect">
            <a:avLst/>
          </a:prstGeom>
          <a:noFill/>
        </p:spPr>
        <p:txBody>
          <a:bodyPr wrap="none">
            <a:spAutoFit/>
          </a:bodyPr>
          <a:lstStyle/>
          <a:p>
            <a:pPr algn="r">
              <a:defRPr b="1" sz="1800">
                <a:solidFill>
                  <a:srgbClr val="FFFFFF"/>
                </a:solidFill>
                <a:latin typeface="Arial"/>
              </a:defRPr>
            </a:pPr>
            <a:r>
              <a:t>KELP</a:t>
            </a:r>
          </a:p>
        </p:txBody>
      </p:sp>
      <p:sp>
        <p:nvSpPr>
          <p:cNvPr id="4" name="TextBox 3"/>
          <p:cNvSpPr txBox="1"/>
          <p:nvPr/>
        </p:nvSpPr>
        <p:spPr>
          <a:xfrm>
            <a:off x="914400" y="2743200"/>
            <a:ext cx="5486400" cy="1828800"/>
          </a:xfrm>
          <a:prstGeom prst="rect">
            <a:avLst/>
          </a:prstGeom>
          <a:noFill/>
        </p:spPr>
        <p:txBody>
          <a:bodyPr wrap="none">
            <a:spAutoFit/>
          </a:bodyPr>
          <a:lstStyle/>
          <a:p>
            <a:pPr>
              <a:defRPr b="1" sz="4400">
                <a:solidFill>
                  <a:srgbClr val="FFFFFF"/>
                </a:solidFill>
                <a:latin typeface="Arial"/>
              </a:defRPr>
            </a:pPr>
            <a:r>
              <a:t>Project Apex</a:t>
            </a:r>
            <a:br/>
            <a:r>
              <a:t>Investment Opportunity</a:t>
            </a:r>
          </a:p>
        </p:txBody>
      </p:sp>
      <p:sp>
        <p:nvSpPr>
          <p:cNvPr id="5" name="TextBox 4"/>
          <p:cNvSpPr txBox="1"/>
          <p:nvPr/>
        </p:nvSpPr>
        <p:spPr>
          <a:xfrm>
            <a:off x="914400" y="4572000"/>
            <a:ext cx="4572000" cy="914400"/>
          </a:xfrm>
          <a:prstGeom prst="rect">
            <a:avLst/>
          </a:prstGeom>
          <a:noFill/>
        </p:spPr>
        <p:txBody>
          <a:bodyPr wrap="none">
            <a:spAutoFit/>
          </a:bodyPr>
          <a:lstStyle/>
          <a:p>
            <a:pPr>
              <a:defRPr sz="1400">
                <a:solidFill>
                  <a:srgbClr val="FF6450"/>
                </a:solidFill>
                <a:latin typeface="Arial"/>
              </a:defRPr>
            </a:pPr>
            <a:r>
              <a:t>Strictly Private &amp; Confidential – Prepared by Kelp M&amp;A 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BUSINESS PROFILE &amp; INFRASTRUCTURE</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The company operates in the partnership business model and also creates manufacturing capacity to wait for market response, which involves some level of risk.</a:t>
            </a:r>
          </a:p>
          <a:p>
            <a:pPr>
              <a:spcAft>
                <a:spcPts val="1200"/>
              </a:spcAft>
              <a:defRPr sz="1100">
                <a:solidFill>
                  <a:srgbClr val="3C3C3C"/>
                </a:solidFill>
                <a:latin typeface="Arial"/>
              </a:defRPr>
            </a:pPr>
            <a:r>
              <a:t>■ The entity has a facility or physical assets that are tied to its core operations.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FINANCIAL &amp; OPERATIONAL SCALE</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The company's revenue has been increasing over the years.</a:t>
            </a:r>
          </a:p>
          <a:p>
            <a:pPr>
              <a:spcAft>
                <a:spcPts val="1200"/>
              </a:spcAft>
              <a:defRPr sz="1100">
                <a:solidFill>
                  <a:srgbClr val="3C3C3C"/>
                </a:solidFill>
                <a:latin typeface="Arial"/>
              </a:defRPr>
            </a:pPr>
            <a:r>
              <a:t>■ Net Income fluctuates, with a large loss in 2020.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INVESTMENT HIGHLIGHTS</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The company has received orders, with a focus on customer value and duration.</a:t>
            </a:r>
          </a:p>
          <a:p>
            <a:pPr>
              <a:spcAft>
                <a:spcPts val="1200"/>
              </a:spcAft>
              <a:defRPr sz="1100">
                <a:solidFill>
                  <a:srgbClr val="3C3C3C"/>
                </a:solidFill>
                <a:latin typeface="Arial"/>
              </a:defRPr>
            </a:pPr>
            <a:r>
              <a:t>■ Management experience spans several years within the entity's operations.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914400"/>
          </a:xfrm>
          <a:prstGeom prst="rect">
            <a:avLst/>
          </a:prstGeom>
          <a:noFill/>
        </p:spPr>
        <p:txBody>
          <a:bodyPr wrap="none">
            <a:spAutoFit/>
          </a:bodyPr>
          <a:lstStyle/>
          <a:p>
            <a:pPr>
              <a:defRPr b="1" sz="2400">
                <a:solidFill>
                  <a:srgbClr val="2E004B"/>
                </a:solidFill>
                <a:latin typeface="Arial"/>
              </a:defRPr>
            </a:pPr>
            <a:r>
              <a:t>Disclaimer</a:t>
            </a:r>
          </a:p>
        </p:txBody>
      </p:sp>
      <p:cxnSp>
        <p:nvCxnSpPr>
          <p:cNvPr id="3" name="Connector 2"/>
          <p:cNvCxnSpPr/>
          <p:nvPr/>
        </p:nvCxnSpPr>
        <p:spPr>
          <a:xfrm>
            <a:off x="457200" y="1097280"/>
            <a:ext cx="8229600" cy="0"/>
          </a:xfrm>
          <a:prstGeom prst="line">
            <a:avLst/>
          </a:prstGeom>
          <a:ln w="25400">
            <a:solidFill>
              <a:srgbClr val="FF645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71600"/>
            <a:ext cx="8229600" cy="4572000"/>
          </a:xfrm>
          <a:prstGeom prst="rect">
            <a:avLst/>
          </a:prstGeom>
          <a:noFill/>
        </p:spPr>
        <p:txBody>
          <a:bodyPr wrap="square">
            <a:spAutoFit/>
          </a:bodyPr>
          <a:lstStyle/>
          <a:p>
            <a:pPr algn="just">
              <a:defRPr sz="1000">
                <a:solidFill>
                  <a:srgbClr val="3C3C3C"/>
                </a:solidFill>
                <a:latin typeface="Arial"/>
              </a:defRPr>
            </a:pPr>
            <a:r>
              <a:t>This presentation is strictly confidential and is being provided to you solely for your information. By accepting this presentation, you agree to keep it confidential and not to distribute it to any other person.</a:t>
            </a:r>
            <a:br/>
            <a:br/>
            <a:r>
              <a:t>This document does not constitute an offer to sell or a solicitation of an offer to buy any securities. The information contained herein has been obtained from sources believed to be reliable but is not guaranteed as to accuracy or completeness. Project Apex and Kelp M&amp;A Team make no representation or warranty regarding the accuracy of the information.</a:t>
            </a:r>
            <a:br/>
            <a:br/>
            <a:r>
              <a:t>This presentation may contain forward-looking statements that involve risks and uncertainties. Actual results may differ materially from those projected.</a:t>
            </a:r>
          </a:p>
        </p:txBody>
      </p: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