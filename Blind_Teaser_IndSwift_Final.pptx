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004B"/>
        </a:solidFill>
        <a:effectLst/>
      </p:bgPr>
    </p:bg>
    <p:spTree>
      <p:nvGrpSpPr>
        <p:cNvPr id="1" name=""/>
        <p:cNvGrpSpPr/>
        <p:nvPr/>
      </p:nvGrpSpPr>
      <p:grpSpPr/>
      <p:sp>
        <p:nvSpPr>
          <p:cNvPr id="2" name="Right Triangle 1"/>
          <p:cNvSpPr/>
          <p:nvPr/>
        </p:nvSpPr>
        <p:spPr>
          <a:xfrm>
            <a:off x="5943600" y="0"/>
            <a:ext cx="3200400" cy="6858000"/>
          </a:xfrm>
          <a:prstGeom prst="rtTriangl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0" y="457200"/>
            <a:ext cx="1828800" cy="457200"/>
          </a:xfrm>
          <a:prstGeom prst="rect">
            <a:avLst/>
          </a:prstGeom>
          <a:noFill/>
        </p:spPr>
        <p:txBody>
          <a:bodyPr wrap="none">
            <a:spAutoFit/>
          </a:bodyPr>
          <a:lstStyle/>
          <a:p>
            <a:pPr algn="r">
              <a:defRPr b="1" sz="1800">
                <a:solidFill>
                  <a:srgbClr val="FFFFFF"/>
                </a:solidFill>
                <a:latin typeface="Arial"/>
              </a:defRPr>
            </a:pPr>
            <a:r>
              <a:t>KELP</a:t>
            </a:r>
          </a:p>
        </p:txBody>
      </p:sp>
      <p:sp>
        <p:nvSpPr>
          <p:cNvPr id="4" name="TextBox 3"/>
          <p:cNvSpPr txBox="1"/>
          <p:nvPr/>
        </p:nvSpPr>
        <p:spPr>
          <a:xfrm>
            <a:off x="914400" y="2743200"/>
            <a:ext cx="5486400" cy="1828800"/>
          </a:xfrm>
          <a:prstGeom prst="rect">
            <a:avLst/>
          </a:prstGeom>
          <a:noFill/>
        </p:spPr>
        <p:txBody>
          <a:bodyPr wrap="none">
            <a:spAutoFit/>
          </a:bodyPr>
          <a:lstStyle/>
          <a:p>
            <a:pPr>
              <a:defRPr b="1" sz="4400">
                <a:solidFill>
                  <a:srgbClr val="FFFFFF"/>
                </a:solidFill>
                <a:latin typeface="Arial"/>
              </a:defRPr>
            </a:pPr>
            <a:r>
              <a:t>Project Apex</a:t>
            </a:r>
            <a:br/>
            <a:r>
              <a:t>Investment Opportunity</a:t>
            </a:r>
          </a:p>
        </p:txBody>
      </p:sp>
      <p:sp>
        <p:nvSpPr>
          <p:cNvPr id="5" name="TextBox 4"/>
          <p:cNvSpPr txBox="1"/>
          <p:nvPr/>
        </p:nvSpPr>
        <p:spPr>
          <a:xfrm>
            <a:off x="914400" y="4572000"/>
            <a:ext cx="4572000" cy="914400"/>
          </a:xfrm>
          <a:prstGeom prst="rect">
            <a:avLst/>
          </a:prstGeom>
          <a:noFill/>
        </p:spPr>
        <p:txBody>
          <a:bodyPr wrap="none">
            <a:spAutoFit/>
          </a:bodyPr>
          <a:lstStyle/>
          <a:p>
            <a:pPr>
              <a:defRPr sz="1400">
                <a:solidFill>
                  <a:srgbClr val="FF6450"/>
                </a:solidFill>
                <a:latin typeface="Arial"/>
              </a:defRPr>
            </a:pPr>
            <a: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BUSINESS PROFILE &amp; INFRASTRUCTURE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the company specializes in the manufacturing of Active Pharmaceutical Ingredients (API)</a:t>
            </a:r>
          </a:p>
          <a:p>
            <a:pPr>
              <a:spcAft>
                <a:spcPts val="1200"/>
              </a:spcAft>
              <a:defRPr sz="1100">
                <a:solidFill>
                  <a:srgbClr val="3C3C3C"/>
                </a:solidFill>
                <a:latin typeface="Arial"/>
              </a:defRPr>
            </a:pPr>
            <a:r>
              <a:t>■ The entity operates facilities with a capacity to produce API</a:t>
            </a:r>
          </a:p>
          <a:p>
            <a:pPr>
              <a:spcAft>
                <a:spcPts val="1200"/>
              </a:spcAft>
              <a:defRPr sz="1100">
                <a:solidFill>
                  <a:srgbClr val="3C3C3C"/>
                </a:solidFill>
                <a:latin typeface="Arial"/>
              </a:defRPr>
            </a:pPr>
            <a:r>
              <a:t>■ the business holds certifications and standards relevant to its operations</a:t>
            </a:r>
          </a:p>
          <a:p>
            <a:pPr>
              <a:spcAft>
                <a:spcPts val="1200"/>
              </a:spcAft>
              <a:defRPr sz="1100">
                <a:solidFill>
                  <a:srgbClr val="3C3C3C"/>
                </a:solidFill>
                <a:latin typeface="Arial"/>
              </a:defRPr>
            </a:pPr>
            <a:r>
              <a:t>■ API products are primarily used in the pharmaceutical industry</a:t>
            </a:r>
          </a:p>
          <a:p>
            <a:pPr>
              <a:spcAft>
                <a:spcPts val="1200"/>
              </a:spcAft>
              <a:defRPr sz="1100">
                <a:solidFill>
                  <a:srgbClr val="3C3C3C"/>
                </a:solidFill>
                <a:latin typeface="Arial"/>
              </a:defRPr>
            </a:pPr>
            <a:r>
              <a:t>■ The entity's headquarters is located within a specific geographic region relevant to its market presence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FINANCIAL &amp; OPERATIONAL SCALE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Revenue for the year 2022 was recorded as a specific value without rounding or unit conversion</a:t>
            </a:r>
          </a:p>
          <a:p>
            <a:pPr>
              <a:spcAft>
                <a:spcPts val="1200"/>
              </a:spcAft>
              <a:defRPr sz="1100">
                <a:solidFill>
                  <a:srgbClr val="3C3C3C"/>
                </a:solidFill>
                <a:latin typeface="Arial"/>
              </a:defRPr>
            </a:pPr>
            <a:r>
              <a:t>■ Operating EBITDA in 2022 amounted to another distinct figure, maintaining exact numeric values from the data provided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INVESTMENT HIGHLIGHTS</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The company has received a specific number of orders in 2022 with associated values and durations without inferring advantages or future implications</a:t>
            </a:r>
          </a:p>
          <a:p>
            <a:pPr>
              <a:spcAft>
                <a:spcPts val="1200"/>
              </a:spcAft>
              <a:defRPr sz="1100">
                <a:solidFill>
                  <a:srgbClr val="3C3C3C"/>
                </a:solidFill>
                <a:latin typeface="Arial"/>
              </a:defRPr>
            </a:pPr>
            <a:r>
              <a:t>■ Capacity figures for the year 2022 are provided as exact numbers, reflecting production capabilities directly from the data given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2400">
                <a:solidFill>
                  <a:srgbClr val="2E004B"/>
                </a:solidFill>
                <a:latin typeface="Arial"/>
              </a:defRPr>
            </a:pPr>
            <a:r>
              <a:t>Disclaimer</a:t>
            </a:r>
          </a:p>
        </p:txBody>
      </p:sp>
      <p:cxnSp>
        <p:nvCxnSpPr>
          <p:cNvPr id="3" name="Connector 2"/>
          <p:cNvCxnSpPr/>
          <p:nvPr/>
        </p:nvCxnSpPr>
        <p:spPr>
          <a:xfrm>
            <a:off x="457200" y="1097280"/>
            <a:ext cx="8229600" cy="0"/>
          </a:xfrm>
          <a:prstGeom prst="line">
            <a:avLst/>
          </a:prstGeom>
          <a:ln w="25400">
            <a:solidFill>
              <a:srgbClr val="FF64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71600"/>
            <a:ext cx="8229600" cy="4572000"/>
          </a:xfrm>
          <a:prstGeom prst="rect">
            <a:avLst/>
          </a:prstGeom>
          <a:noFill/>
        </p:spPr>
        <p:txBody>
          <a:bodyPr wrap="square">
            <a:spAutoFit/>
          </a:bodyPr>
          <a:lstStyle/>
          <a:p>
            <a:pPr algn="just">
              <a:defRPr sz="1000">
                <a:solidFill>
                  <a:srgbClr val="3C3C3C"/>
                </a:solidFill>
                <a:latin typeface="Arial"/>
              </a:defRPr>
            </a:pPr>
            <a:r>
              <a:t>This presentation is strictly confidential and is being provided to you solely for your information. By accepting this presentation, you agree to keep it confidential and not to distribute it to any other person.</a:t>
            </a:r>
            <a:br/>
            <a:br/>
            <a:r>
              <a:t>This document does not constitute an offer to sell or a solicitation of an offer to buy any securities. The information contained herein has been obtained from sources believed to be reliable but is not guaranteed as to accuracy or completeness. Project Apex and Kelp M&amp;A Team make no representation or warranty regarding the accuracy of the information.</a:t>
            </a:r>
            <a:br/>
            <a:br/>
            <a:r>
              <a:t>This presentation may contain forward-looking statements that involve risks and uncertainties. Actual results may differ materially from those projected.</a:t>
            </a:r>
          </a:p>
        </p:txBody>
      </p: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