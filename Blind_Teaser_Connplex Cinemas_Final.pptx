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E004B"/>
        </a:solidFill>
        <a:effectLst/>
      </p:bgPr>
    </p:bg>
    <p:spTree>
      <p:nvGrpSpPr>
        <p:cNvPr id="1" name=""/>
        <p:cNvGrpSpPr/>
        <p:nvPr/>
      </p:nvGrpSpPr>
      <p:grpSpPr/>
      <p:sp>
        <p:nvSpPr>
          <p:cNvPr id="2" name="Right Triangle 1"/>
          <p:cNvSpPr/>
          <p:nvPr/>
        </p:nvSpPr>
        <p:spPr>
          <a:xfrm>
            <a:off x="5943600" y="0"/>
            <a:ext cx="3200400" cy="6858000"/>
          </a:xfrm>
          <a:prstGeom prst="rtTriangl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0" y="457200"/>
            <a:ext cx="1828800" cy="457200"/>
          </a:xfrm>
          <a:prstGeom prst="rect">
            <a:avLst/>
          </a:prstGeom>
          <a:noFill/>
        </p:spPr>
        <p:txBody>
          <a:bodyPr wrap="none">
            <a:spAutoFit/>
          </a:bodyPr>
          <a:lstStyle/>
          <a:p>
            <a:pPr algn="r">
              <a:defRPr b="1" sz="1800">
                <a:solidFill>
                  <a:srgbClr val="FFFFFF"/>
                </a:solidFill>
                <a:latin typeface="Arial"/>
              </a:defRPr>
            </a:pPr>
            <a:r>
              <a:t>KELP</a:t>
            </a:r>
          </a:p>
        </p:txBody>
      </p:sp>
      <p:sp>
        <p:nvSpPr>
          <p:cNvPr id="4" name="TextBox 3"/>
          <p:cNvSpPr txBox="1"/>
          <p:nvPr/>
        </p:nvSpPr>
        <p:spPr>
          <a:xfrm>
            <a:off x="914400" y="2743200"/>
            <a:ext cx="5486400" cy="1828800"/>
          </a:xfrm>
          <a:prstGeom prst="rect">
            <a:avLst/>
          </a:prstGeom>
          <a:noFill/>
        </p:spPr>
        <p:txBody>
          <a:bodyPr wrap="none">
            <a:spAutoFit/>
          </a:bodyPr>
          <a:lstStyle/>
          <a:p>
            <a:pPr>
              <a:defRPr b="1" sz="4400">
                <a:solidFill>
                  <a:srgbClr val="FFFFFF"/>
                </a:solidFill>
                <a:latin typeface="Arial"/>
              </a:defRPr>
            </a:pPr>
            <a:r>
              <a:t>Project Apex</a:t>
            </a:r>
            <a:br/>
            <a:r>
              <a:t>Investment Opportunity</a:t>
            </a:r>
          </a:p>
        </p:txBody>
      </p:sp>
      <p:sp>
        <p:nvSpPr>
          <p:cNvPr id="5" name="TextBox 4"/>
          <p:cNvSpPr txBox="1"/>
          <p:nvPr/>
        </p:nvSpPr>
        <p:spPr>
          <a:xfrm>
            <a:off x="914400" y="4572000"/>
            <a:ext cx="4572000" cy="914400"/>
          </a:xfrm>
          <a:prstGeom prst="rect">
            <a:avLst/>
          </a:prstGeom>
          <a:noFill/>
        </p:spPr>
        <p:txBody>
          <a:bodyPr wrap="none">
            <a:spAutoFit/>
          </a:bodyPr>
          <a:lstStyle/>
          <a:p>
            <a:pPr>
              <a:defRPr sz="1400">
                <a:solidFill>
                  <a:srgbClr val="FF6450"/>
                </a:solidFill>
                <a:latin typeface="Arial"/>
              </a:defRPr>
            </a:pPr>
            <a:r>
              <a:t>Strictly Private &amp; Confidential – Prepared by Kelp M&amp;A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KEY FINANCIAL HIGHLIGHTS</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Revenue From Operations: 2022 - 68.2, 2023 - 253.7, 2024 - 611.5, 2025 - 959.9; Significant growth, particularly from 2022 to 2023 and then again in 2024 and 2025.</a:t>
            </a:r>
          </a:p>
          <a:p>
            <a:pPr>
              <a:spcAft>
                <a:spcPts val="1200"/>
              </a:spcAft>
              <a:defRPr sz="1100">
                <a:solidFill>
                  <a:srgbClr val="3C3C3C"/>
                </a:solidFill>
                <a:latin typeface="Arial"/>
              </a:defRPr>
            </a:pPr>
            <a:r>
              <a:t>■ Operating EBITDA: 2023 - 26.3, 2024 - 62, 2025 - 262.5; Substantial growth reflecting improved operational efficiency and profitability.</a:t>
            </a:r>
          </a:p>
          <a:p>
            <a:pPr>
              <a:spcAft>
                <a:spcPts val="1200"/>
              </a:spcAft>
              <a:defRPr sz="1100">
                <a:solidFill>
                  <a:srgbClr val="3C3C3C"/>
                </a:solidFill>
                <a:latin typeface="Arial"/>
              </a:defRPr>
            </a:pPr>
            <a:r>
              <a:t>■ PAT Margin: 2023 - 7.268%, 2024 - 6.570%, 2025 - 19.041%; Increased significantly from 2023 to 2025, indicating better profitability.</a:t>
            </a:r>
          </a:p>
          <a:p>
            <a:pPr>
              <a:spcAft>
                <a:spcPts val="1200"/>
              </a:spcAft>
              <a:defRPr sz="1100">
                <a:solidFill>
                  <a:srgbClr val="3C3C3C"/>
                </a:solidFill>
                <a:latin typeface="Arial"/>
              </a:defRPr>
            </a:pPr>
            <a:r>
              <a:t>■ RoCE (Return on Capital Employed): 2023 - 8.728%, 2024 - 19.666%, 2025 - 22.304%; Increased substantially, suggesting better returns on capital employed.</a:t>
            </a:r>
          </a:p>
          <a:p>
            <a:pPr>
              <a:spcAft>
                <a:spcPts val="1200"/>
              </a:spcAft>
              <a:defRPr sz="1100">
                <a:solidFill>
                  <a:srgbClr val="3C3C3C"/>
                </a:solidFill>
                <a:latin typeface="Arial"/>
              </a:defRPr>
            </a:pPr>
            <a:r>
              <a:t>■ ROE (Return on Equity): 2023 - 290.625%, 2024 - 111.724%, 2025 - 51.726%; Decreased from 2023 to 2025, due to increased use of debt or equity financing.</a:t>
            </a:r>
          </a:p>
          <a:p>
            <a:pPr>
              <a:spcAft>
                <a:spcPts val="1200"/>
              </a:spcAft>
              <a:defRPr sz="1100">
                <a:solidFill>
                  <a:srgbClr val="3C3C3C"/>
                </a:solidFill>
                <a:latin typeface="Arial"/>
              </a:defRPr>
            </a:pPr>
            <a:r>
              <a:t>■ Asset Turnover: 2023 - 1.173, 2024 - 1.909, 2025 - 1.976; Increased significantly indicating more efficient use of assets to generate revenue.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CASH FLOW ANALYSIS</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Cash and Cash Equivalents as at the End of the Year: 2023 - 88.5, 2024 - 33.8, 2025 - 19.1; Decreased from 2023 to 2025 due to increased capital expenditure or working capital requirements.</a:t>
            </a:r>
          </a:p>
          <a:p>
            <a:pPr>
              <a:spcAft>
                <a:spcPts val="1200"/>
              </a:spcAft>
              <a:defRPr sz="1100">
                <a:solidFill>
                  <a:srgbClr val="3C3C3C"/>
                </a:solidFill>
                <a:latin typeface="Arial"/>
              </a:defRPr>
            </a:pPr>
            <a:r>
              <a:t>■ Net Cash Flow from Operating Activities: 2022 - 2.1, 2023 - 52, 2024 - -4.7, 2025 - -14.7; Fluctuated with significant positive inflow in 2023 and negative values in 2024 and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KEY OBSERVATIONS</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Revenue Growth: Significant growth indicates strong market demand and business performance.</a:t>
            </a:r>
          </a:p>
          <a:p>
            <a:pPr>
              <a:spcAft>
                <a:spcPts val="1200"/>
              </a:spcAft>
              <a:defRPr sz="1100">
                <a:solidFill>
                  <a:srgbClr val="3C3C3C"/>
                </a:solidFill>
                <a:latin typeface="Arial"/>
              </a:defRPr>
            </a:pPr>
            <a:r>
              <a:t>■ EBITDA and Profitability: EBITDA and PAT margin have improved, suggesting better operational efficiency and profitability.</a:t>
            </a:r>
          </a:p>
          <a:p>
            <a:pPr>
              <a:spcAft>
                <a:spcPts val="1200"/>
              </a:spcAft>
              <a:defRPr sz="1100">
                <a:solidFill>
                  <a:srgbClr val="3C3C3C"/>
                </a:solidFill>
                <a:latin typeface="Arial"/>
              </a:defRPr>
            </a:pPr>
            <a:r>
              <a:t>■ Return Metrics: RoCE has increased significantly indicating that the company is generating better returns on its capital employed. However, ROE has decreased due to leverage or other factors.</a:t>
            </a:r>
          </a:p>
          <a:p>
            <a:pPr>
              <a:spcAft>
                <a:spcPts val="1200"/>
              </a:spcAft>
              <a:defRPr sz="1100">
                <a:solidFill>
                  <a:srgbClr val="3C3C3C"/>
                </a:solidFill>
                <a:latin typeface="Arial"/>
              </a:defRPr>
            </a:pPr>
            <a:r>
              <a:t>■ Cash Flow: Positive cash flow from operations in 2023 but a significant decrease in subsequent years suggests potential issues with working capital management or capital expenditure.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914400"/>
          </a:xfrm>
          <a:prstGeom prst="rect">
            <a:avLst/>
          </a:prstGeom>
          <a:noFill/>
        </p:spPr>
        <p:txBody>
          <a:bodyPr wrap="none">
            <a:spAutoFit/>
          </a:bodyPr>
          <a:lstStyle/>
          <a:p>
            <a:pPr>
              <a:defRPr b="1" sz="2400">
                <a:solidFill>
                  <a:srgbClr val="2E004B"/>
                </a:solidFill>
                <a:latin typeface="Arial"/>
              </a:defRPr>
            </a:pPr>
            <a:r>
              <a:t>Disclaimer</a:t>
            </a:r>
          </a:p>
        </p:txBody>
      </p:sp>
      <p:cxnSp>
        <p:nvCxnSpPr>
          <p:cNvPr id="3" name="Connector 2"/>
          <p:cNvCxnSpPr/>
          <p:nvPr/>
        </p:nvCxnSpPr>
        <p:spPr>
          <a:xfrm>
            <a:off x="457200" y="1097280"/>
            <a:ext cx="8229600" cy="0"/>
          </a:xfrm>
          <a:prstGeom prst="line">
            <a:avLst/>
          </a:prstGeom>
          <a:ln w="25400">
            <a:solidFill>
              <a:srgbClr val="FF645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71600"/>
            <a:ext cx="8229600" cy="4572000"/>
          </a:xfrm>
          <a:prstGeom prst="rect">
            <a:avLst/>
          </a:prstGeom>
          <a:noFill/>
        </p:spPr>
        <p:txBody>
          <a:bodyPr wrap="square">
            <a:spAutoFit/>
          </a:bodyPr>
          <a:lstStyle/>
          <a:p>
            <a:pPr algn="just">
              <a:defRPr sz="1000">
                <a:solidFill>
                  <a:srgbClr val="3C3C3C"/>
                </a:solidFill>
                <a:latin typeface="Arial"/>
              </a:defRPr>
            </a:pPr>
            <a:r>
              <a:t>This presentation is strictly confidential and is being provided to you solely for your information. By accepting this presentation, you agree to keep it confidential and not to distribute it to any other person.</a:t>
            </a:r>
            <a:br/>
            <a:br/>
            <a:r>
              <a:t>This document does not constitute an offer to sell or a solicitation of an offer to buy any securities. The information contained herein has been obtained from sources believed to be reliable but is not guaranteed as to accuracy or completeness. Project Apex and Kelp M&amp;A Team make no representation or warranty regarding the accuracy of the information.</a:t>
            </a:r>
            <a:br/>
            <a:br/>
            <a:r>
              <a:t>This presentation may contain forward-looking statements that involve risks and uncertainties. Actual results may differ materially from those projected.</a:t>
            </a:r>
          </a:p>
        </p:txBody>
      </p: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